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666" y="6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7872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「為什麼媽媽你今天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不用在公司？」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竹科孩子在晚上8:30看到媽媽提早回家時，脫口而出的疑問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017520"/>
            <a:ext cx="1828800" cy="10972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137160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37160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工作-家庭失衡困境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3017520"/>
            <a:ext cx="1828800" cy="10972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65760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54.5%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65760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時間貧窮痛點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3017520"/>
            <a:ext cx="1828800" cy="10972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36.4%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94360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家庭關係危機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赤土崎全齡社福樞紐 — 解決竹科家庭「時間貧窮」的整合方案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報告人：蔡秀吉 | 資料來源：11篇竹科家庭質性研究分析（2021-2025）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竹科家庭的痛點不是「缺服務」而是「服務分散」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114800" cy="914400"/>
          </a:xfrm>
          <a:prstGeom prst="rect">
            <a:avLst/>
          </a:prstGeom>
          <a:solidFill>
            <a:srgbClr val="FFF3E0"/>
          </a:solidFill>
          <a:ln w="381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「如同被鐵網困住的倉鼠」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鏡週刊深度報導，2025年6月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痛點分類矩陣（11篇文章分析）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731520" cy="32004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54.5%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時間類：接送、通勤、等待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731520" cy="32004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36.4%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7432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關係類：夫妻衝突、親子疏離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731520" cy="32004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2004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9.1%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32004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健康類：慢性病、心理健康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731520" cy="32004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657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資源類：服務分散、托育不足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一天的動線地圖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0" y="1371600"/>
            <a:ext cx="3657600" cy="41148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120640" y="14173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07:00 東區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送長輩至日照中心（8公里）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0" y="1920240"/>
            <a:ext cx="3657600" cy="41148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120640" y="1965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07:30 北區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送幼兒至托育中心（6公里）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0" y="2468880"/>
            <a:ext cx="3657600" cy="41148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512064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08:00 竹科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0" y="2514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到公司上班（5公里）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0" y="3017520"/>
            <a:ext cx="3657600" cy="41148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512064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17:00 北區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0632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接小孩放學（5公里）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0" y="3566160"/>
            <a:ext cx="3657600" cy="41148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5120640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17:30 東區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接長輩回家（6公里）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4114800"/>
            <a:ext cx="3657600" cy="41148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5120640" y="4160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18:30 回家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58000" y="4160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終於到家（2公里）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297680"/>
            <a:ext cx="4114800" cy="45720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457200" y="4389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每日總計：32公里 | 2小時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資料來源：hackathon_data_summary.md（痛點分類Line 34-44）| 紮根理論三層編碼分析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A65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赤土崎全齡社福樞紐：用「一館」解決「三代」的時間貧窮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657600" cy="548640"/>
          </a:xfrm>
          <a:prstGeom prst="rect">
            <a:avLst/>
          </a:prstGeom>
          <a:solidFill>
            <a:srgbClr val="E3F2FD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 青少年活動中心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0759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30-40人 | 17:00-21:00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657600" cy="548640"/>
          </a:xfrm>
          <a:prstGeom prst="rect">
            <a:avLst/>
          </a:prstGeom>
          <a:solidFill>
            <a:srgbClr val="F3E5F5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48640" y="171907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 家庭支持服務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4767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20-30人 | 18:00-21:00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657600" cy="548640"/>
          </a:xfrm>
          <a:prstGeom prst="rect">
            <a:avLst/>
          </a:prstGeom>
          <a:solidFill>
            <a:srgbClr val="FFF3E0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548640" y="235915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 公共托嬰中心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58775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40-50人 | 07:30-17:30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3657600" cy="548640"/>
          </a:xfrm>
          <a:prstGeom prst="rect">
            <a:avLst/>
          </a:prstGeom>
          <a:solidFill>
            <a:srgbClr val="E8F5E9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548640" y="29992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 長照日照中心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22783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50-60人 | 09:00-17:00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657600" cy="548640"/>
          </a:xfrm>
          <a:prstGeom prst="rect">
            <a:avLst/>
          </a:prstGeom>
          <a:solidFill>
            <a:srgbClr val="EEEEEE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停車場+設備層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79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30車位 | 全日開放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1188720"/>
            <a:ext cx="1828800" cy="1371600"/>
          </a:xfrm>
          <a:prstGeom prst="rect">
            <a:avLst/>
          </a:prstGeom>
          <a:solidFill>
            <a:srgbClr val="E8F5E9"/>
          </a:solidFill>
          <a:ln w="381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457200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3,100 m²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總樓地板面積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(940坪)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75120" y="1188720"/>
            <a:ext cx="1828800" cy="1371600"/>
          </a:xfrm>
          <a:prstGeom prst="rect">
            <a:avLst/>
          </a:prstGeom>
          <a:solidFill>
            <a:srgbClr val="E8F5E9"/>
          </a:solidFill>
          <a:ln w="381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667512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B1+4F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675120" y="2011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5層建築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整合設計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0" y="2834640"/>
            <a:ext cx="1828800" cy="1371600"/>
          </a:xfrm>
          <a:prstGeom prst="rect">
            <a:avLst/>
          </a:prstGeom>
          <a:solidFill>
            <a:srgbClr val="E8F5E9"/>
          </a:solidFill>
          <a:ln w="381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4572000" y="3063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140-180人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572000" y="3657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每日服務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75120" y="2834640"/>
            <a:ext cx="1828800" cy="1371600"/>
          </a:xfrm>
          <a:prstGeom prst="rect">
            <a:avLst/>
          </a:prstGeom>
          <a:solidFill>
            <a:srgbClr val="E8F5E9"/>
          </a:solidFill>
          <a:ln w="381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6675120" y="3063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29人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675120" y="3657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專業工作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團隊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資料來源：architectural-floor-plans-2025.md (Line 13-31, 1425-1437)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台灣首創：失智日照 + 公托 + 青少年中心 三合一</a:t>
            </a:r>
            <a:endParaRPr lang="en-US" sz="2400" dirty="0"/>
          </a:p>
        </p:txBody>
      </p: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7EE6BD88-CF22-14D9-3D7B-4449003F0DEA}"/>
              </a:ext>
            </a:extLst>
          </p:cNvPr>
          <p:cNvGrpSpPr/>
          <p:nvPr/>
        </p:nvGrpSpPr>
        <p:grpSpPr>
          <a:xfrm>
            <a:off x="457200" y="914400"/>
            <a:ext cx="4114800" cy="841248"/>
            <a:chOff x="457200" y="914400"/>
            <a:chExt cx="4114800" cy="841248"/>
          </a:xfrm>
        </p:grpSpPr>
        <p:sp>
          <p:nvSpPr>
            <p:cNvPr id="4" name="Shape 2"/>
            <p:cNvSpPr/>
            <p:nvPr/>
          </p:nvSpPr>
          <p:spPr>
            <a:xfrm>
              <a:off x="457200" y="914400"/>
              <a:ext cx="4114800" cy="841248"/>
            </a:xfrm>
            <a:prstGeom prst="rect">
              <a:avLst/>
            </a:prstGeom>
            <a:solidFill>
              <a:srgbClr val="E3F2FD"/>
            </a:solidFill>
            <a:ln w="25400">
              <a:solidFill>
                <a:srgbClr val="0066C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 3"/>
            <p:cNvSpPr/>
            <p:nvPr/>
          </p:nvSpPr>
          <p:spPr>
            <a:xfrm>
              <a:off x="548640" y="987552"/>
              <a:ext cx="39319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66C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🔊 隔音設計（CDC 2025標準）</a:t>
              </a:r>
              <a:endParaRPr lang="en-US" sz="13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0080" y="1234440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STC 65隔音牆：1F失智 vs 2F幼兒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40080" y="1380744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IIC 70地板：4F籃球 vs 3F諮商室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40080" y="1527048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降噪效果：40-45 dB</a:t>
              </a:r>
              <a:endParaRPr lang="en-US" sz="1000" dirty="0"/>
            </a:p>
          </p:txBody>
        </p: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B004697C-E6DA-4834-88DD-627CB3CF4ADE}"/>
              </a:ext>
            </a:extLst>
          </p:cNvPr>
          <p:cNvGrpSpPr/>
          <p:nvPr/>
        </p:nvGrpSpPr>
        <p:grpSpPr>
          <a:xfrm>
            <a:off x="457200" y="2337308"/>
            <a:ext cx="4114800" cy="777240"/>
            <a:chOff x="457200" y="1920240"/>
            <a:chExt cx="4114800" cy="777240"/>
          </a:xfrm>
        </p:grpSpPr>
        <p:sp>
          <p:nvSpPr>
            <p:cNvPr id="9" name="Shape 7"/>
            <p:cNvSpPr/>
            <p:nvPr/>
          </p:nvSpPr>
          <p:spPr>
            <a:xfrm>
              <a:off x="457200" y="1920240"/>
              <a:ext cx="4114800" cy="777240"/>
            </a:xfrm>
            <a:prstGeom prst="rect">
              <a:avLst/>
            </a:prstGeom>
            <a:solidFill>
              <a:srgbClr val="FFF3E0"/>
            </a:solidFill>
            <a:ln w="25400">
              <a:solidFill>
                <a:srgbClr val="0066C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1993392"/>
              <a:ext cx="39319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66C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🍽️ 分時共享策略</a:t>
              </a:r>
              <a:endParaRPr lang="en-US" sz="13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40080" y="2240280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共用餐廳錯峰：11:30長者/12:00幼兒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40080" y="2386584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社區廚房：日間130人/夜間課程</a:t>
              </a:r>
              <a:endParaRPr lang="en-US" sz="1000" dirty="0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9595A7B3-6EB3-D391-4C04-53247233CBF3}"/>
              </a:ext>
            </a:extLst>
          </p:cNvPr>
          <p:cNvGrpSpPr/>
          <p:nvPr/>
        </p:nvGrpSpPr>
        <p:grpSpPr>
          <a:xfrm>
            <a:off x="457200" y="3637280"/>
            <a:ext cx="4114800" cy="832104"/>
            <a:chOff x="457200" y="2743200"/>
            <a:chExt cx="4114800" cy="832104"/>
          </a:xfrm>
        </p:grpSpPr>
        <p:sp>
          <p:nvSpPr>
            <p:cNvPr id="13" name="Shape 11"/>
            <p:cNvSpPr/>
            <p:nvPr/>
          </p:nvSpPr>
          <p:spPr>
            <a:xfrm>
              <a:off x="457200" y="2743200"/>
              <a:ext cx="4114800" cy="832104"/>
            </a:xfrm>
            <a:prstGeom prst="rect">
              <a:avLst/>
            </a:prstGeom>
            <a:solidFill>
              <a:srgbClr val="E8F5E9"/>
            </a:solidFill>
            <a:ln w="25400">
              <a:solidFill>
                <a:srgbClr val="0066C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548640" y="2816352"/>
              <a:ext cx="39319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066C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🤝 跨齡互動時段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0080" y="3063240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每週五10:00-11:00：園藝活動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" y="3209544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每月第3週日：三代同堂節慶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40080" y="3355848"/>
              <a:ext cx="3840480" cy="137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每季1次：生命故事錄製</a:t>
              </a:r>
              <a:endParaRPr lang="en-US" sz="10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4754880" y="914400"/>
            <a:ext cx="3931920" cy="2130552"/>
          </a:xfrm>
          <a:prstGeom prst="rect">
            <a:avLst/>
          </a:prstGeom>
          <a:solidFill>
            <a:srgbClr val="E3F2FD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4846320" y="1005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國際實證基礎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46320" y="137160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🇯🇵 日本共生型服務（2018年實施）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1572768"/>
            <a:ext cx="3657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運作6年，感染率未增加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192024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🇳🇱 荷蘭 Humanitas 跨代護理之家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2121408"/>
            <a:ext cx="3657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160位長者 + 6位大學生共居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246888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🇹🇼 台灣老幼共學（2016年起）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37760" y="2670048"/>
            <a:ext cx="3657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高雄、台北、新北多處成功</a:t>
            </a:r>
            <a:endParaRPr lang="en-US" sz="1000" dirty="0"/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71174BB-0994-1223-2E8D-7767BC981D34}"/>
              </a:ext>
            </a:extLst>
          </p:cNvPr>
          <p:cNvGrpSpPr/>
          <p:nvPr/>
        </p:nvGrpSpPr>
        <p:grpSpPr>
          <a:xfrm>
            <a:off x="4754880" y="3383280"/>
            <a:ext cx="3931920" cy="1097280"/>
            <a:chOff x="4754880" y="2926080"/>
            <a:chExt cx="3931920" cy="1097280"/>
          </a:xfrm>
        </p:grpSpPr>
        <p:sp>
          <p:nvSpPr>
            <p:cNvPr id="26" name="Shape 24"/>
            <p:cNvSpPr/>
            <p:nvPr/>
          </p:nvSpPr>
          <p:spPr>
            <a:xfrm>
              <a:off x="4754880" y="2926080"/>
              <a:ext cx="3931920" cy="1097280"/>
            </a:xfrm>
            <a:prstGeom prst="rect">
              <a:avLst/>
            </a:prstGeom>
            <a:solidFill>
              <a:srgbClr val="F5F5F5"/>
            </a:solidFill>
            <a:ln w="25400">
              <a:solidFill>
                <a:srgbClr val="0066C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4846320" y="3017520"/>
              <a:ext cx="374904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066C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技術規格亮點</a:t>
              </a:r>
              <a:endParaRPr lang="en-US" sz="14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4937760" y="3291840"/>
              <a:ext cx="365760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✓ HEPA H13過濾 - 99.97%病毒與PM2.5</a:t>
              </a:r>
              <a:endParaRPr lang="en-US" sz="1000" dirty="0"/>
            </a:p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✓ 獨立空調系統 - 1F、2F各獨立</a:t>
              </a:r>
              <a:endParaRPr lang="en-US" sz="1000" dirty="0"/>
            </a:p>
            <a:p>
              <a:pPr marL="0" indent="0">
                <a:buNone/>
              </a:pPr>
              <a:r>
                <a:rPr lang="en-US" sz="1000" dirty="0">
                  <a:solidFill>
                    <a:srgbClr val="3333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✓ 智慧監控 - 跌倒偵測、生理監測</a:t>
              </a:r>
              <a:endParaRPr lang="en-US" sz="10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資料來源：cross-age-integration-design-2025.md (Line 30-54) | architectural-floor-plans-2025.md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DC14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10/30標案開標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設計階段影響功能的最後窗口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0" cy="502920"/>
          </a:xfrm>
          <a:prstGeom prst="rect">
            <a:avLst/>
          </a:prstGeom>
          <a:solidFill>
            <a:srgbClr val="E8F5E9"/>
          </a:solidFill>
          <a:ln w="381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48640" y="1078992"/>
            <a:ext cx="4846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2025/10/07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4846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標案公告 - 114A109 | 2,287萬元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029200" cy="502920"/>
          </a:xfrm>
          <a:prstGeom prst="rect">
            <a:avLst/>
          </a:prstGeom>
          <a:solidFill>
            <a:srgbClr val="FFF3E0"/>
          </a:solidFill>
          <a:ln w="381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548640" y="1673352"/>
            <a:ext cx="4846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2025/10/30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4846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開標（本週三） - 規劃設計及監造技術服務案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5029200" cy="502920"/>
          </a:xfrm>
          <a:prstGeom prst="rect">
            <a:avLst/>
          </a:prstGeom>
          <a:solidFill>
            <a:srgbClr val="F5F5F5"/>
          </a:solidFill>
          <a:ln w="381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267712"/>
            <a:ext cx="4846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2025/11 - 2026/04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468880"/>
            <a:ext cx="4846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黃金窗口 - 規劃設計階段（6個月）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029200" cy="502920"/>
          </a:xfrm>
          <a:prstGeom prst="rect">
            <a:avLst/>
          </a:prstGeom>
          <a:solidFill>
            <a:srgbClr val="F5F5F5"/>
          </a:solidFill>
          <a:ln w="381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48640" y="2862072"/>
            <a:ext cx="4846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2026/05 - 2027/06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4846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工程施工 - 主體工程（14個月）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383280"/>
            <a:ext cx="5029200" cy="502920"/>
          </a:xfrm>
          <a:prstGeom prst="rect">
            <a:avLst/>
          </a:prstGeom>
          <a:solidFill>
            <a:srgbClr val="F5F5F5"/>
          </a:solidFill>
          <a:ln w="381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48640" y="3456432"/>
            <a:ext cx="4846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2027/07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657600"/>
            <a:ext cx="4846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正式營運 - 試營運2個月後全面啟用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0" y="1005840"/>
            <a:ext cx="3017520" cy="1737360"/>
          </a:xfrm>
          <a:prstGeom prst="rect">
            <a:avLst/>
          </a:prstGeom>
          <a:solidFill>
            <a:srgbClr val="E3F2FD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5760720" y="10972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財劃法修正影響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760720" y="1417320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修法前（114年）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60720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83億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760720" y="1965960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修法後（115年）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60720" y="21762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293億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760720" y="2514600"/>
            <a:ext cx="2834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增加幅度：+210億（+253%）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0" y="2834640"/>
            <a:ext cx="301752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5760720" y="29260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三館規劃進度對比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004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赤土崎多功能館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89520" y="32004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✓✓✓ 已發包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852160" y="35204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兒少家庭福利館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89520" y="35204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選址未定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840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少年福利服務中心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384048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規劃階段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資料來源：Xin-Zhu-Shi-Zheng-Fu-Biao-An-Fen-Xi.md | 台灣政府電子採購網 | CLAUDE.md (Line 16-38)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A65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2.3億預算，月淨收入+51.9萬，SROI 1:2.04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743200" cy="1188720"/>
          </a:xfrm>
          <a:prstGeom prst="rect">
            <a:avLst/>
          </a:prstGeom>
          <a:solidFill>
            <a:srgbClr val="E8F5E9"/>
          </a:solidFill>
          <a:ln w="381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總預算規模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2.3億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新竹市65.2% + 中央14.6%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企業ESG 3.4%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914400"/>
            <a:ext cx="2743200" cy="1645920"/>
          </a:xfrm>
          <a:prstGeom prst="rect">
            <a:avLst/>
          </a:prstGeom>
          <a:solidFill>
            <a:srgbClr val="E8F5E9"/>
          </a:solidFill>
          <a:ln w="254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474720" y="10058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月度收入（穩定運營後）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1325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日照中心（55人）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13258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145.2萬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0440" y="16002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托嬰中心（45人）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0" y="160020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65.3萬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18745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青少年中心（補助）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03520" y="187452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21488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場地租借 + 停車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0" y="21488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20440" y="2395728"/>
            <a:ext cx="2468880" cy="45720"/>
          </a:xfrm>
          <a:prstGeom prst="rect">
            <a:avLst/>
          </a:prstGeom>
          <a:solidFill>
            <a:srgbClr val="00A65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3520440" y="2450592"/>
            <a:ext cx="17373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總月收入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03520" y="2450592"/>
            <a:ext cx="640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243.0萬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2743200" cy="1371600"/>
          </a:xfrm>
          <a:prstGeom prst="rect">
            <a:avLst/>
          </a:prstGeom>
          <a:solidFill>
            <a:srgbClr val="FFF3E0"/>
          </a:solidFill>
          <a:ln w="254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48640" y="23774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月度支出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2697480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人事成本（29人）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77440" y="2697480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145.0萬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" y="2926080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水電瓦斯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77440" y="2926080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18.0萬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" y="3154680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設備維護+食材耗材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77440" y="3154680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94360" y="3364992"/>
            <a:ext cx="2468880" cy="4572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594360" y="3429000"/>
            <a:ext cx="16459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總月支出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377440" y="3429000"/>
            <a:ext cx="6400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191.0萬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1097280"/>
          </a:xfrm>
          <a:prstGeom prst="rect">
            <a:avLst/>
          </a:prstGeom>
          <a:solidFill>
            <a:srgbClr val="006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6309360" y="10515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月淨收入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09360" y="1325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+51.9萬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6309360" y="17830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年盈餘 623萬元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09360" y="2194560"/>
            <a:ext cx="2377440" cy="109728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309360" y="23317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社會投資報酬率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09360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1:2.04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6309360" y="30632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每投入1元，創造2.04元社會價值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83280" y="2743200"/>
            <a:ext cx="2743200" cy="914400"/>
          </a:xfrm>
          <a:prstGeom prst="rect">
            <a:avLst/>
          </a:prstGeom>
          <a:solidFill>
            <a:srgbClr val="E3F2FD"/>
          </a:solidFill>
          <a:ln w="127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3474720" y="28346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社會價值產出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52044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時間節省：1.2億元/年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關係改善：3,600萬元/年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健康促進：2,400萬元/年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資料來源：policy-docking-and-financial-model.md (Line 8-14, 231-296) | SROI：台灣社會影響力研究院標準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新竹縣綜合社福館（2.8億，2023營運）證實模式可行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F3E5F5"/>
          </a:solidFill>
          <a:ln w="38100">
            <a:solidFill>
              <a:srgbClr val="9C27B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不是異想天開，而是有前例可循 — 新竹縣已經做了，新竹市可以做得更好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13990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比較項目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3990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新竹縣綜合社福館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13990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赤土崎全齡樞紐（本提案）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14500"/>
            <a:ext cx="8229600" cy="320040"/>
          </a:xfrm>
          <a:prstGeom prst="rect">
            <a:avLst/>
          </a:prstGeom>
          <a:solidFill>
            <a:srgbClr val="FFF3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548640" y="17145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預算規模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17145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2.8億元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77840" y="17145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2.3億元 ⭐ 節省17.9%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8026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48640" y="20802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樓層數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20802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4層（無地下）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577840" y="20802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B1+4F（5層）✓ 多停車場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446020"/>
            <a:ext cx="8229600" cy="320040"/>
          </a:xfrm>
          <a:prstGeom prst="rect">
            <a:avLst/>
          </a:prstGeom>
          <a:solidFill>
            <a:srgbClr val="FFF3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4460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整合功能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24460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托嬰+親子+兒少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77840" y="24460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托嬰+親子+兒少+長照 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81178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548640" y="28117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服務人數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8117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約150人/日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577840" y="28117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140-180人/日 ✓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177540"/>
            <a:ext cx="8229600" cy="320040"/>
          </a:xfrm>
          <a:prstGeom prst="rect">
            <a:avLst/>
          </a:prstGeom>
          <a:solidFill>
            <a:srgbClr val="FFF3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548640" y="31775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跨齡設計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1775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無明確跨齡活動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7840" y="31775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固定時段跨齡互動 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543300"/>
            <a:ext cx="8229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548640" y="35433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SROI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35433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未公開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35433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1:2.04 ⭐ 數據透明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3909060"/>
            <a:ext cx="8229600" cy="320040"/>
          </a:xfrm>
          <a:prstGeom prst="rect">
            <a:avLst/>
          </a:prstGeom>
          <a:solidFill>
            <a:srgbClr val="FFF3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548640" y="39090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營運狀況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34640" y="39090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收支平衡 ✓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收托率95%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77840" y="39090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預計收支平衡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月淨收入+51.9萬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資料來源：新竹縣政府社會處、綜合社福館營運報告（2024年中）| CLAUDE.md標竿分析章節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76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從標案到營運：18個月實施路徑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943600" cy="822960"/>
          </a:xfrm>
          <a:prstGeom prst="rect">
            <a:avLst/>
          </a:prstGeom>
          <a:solidFill>
            <a:srgbClr val="E3F2FD"/>
          </a:solidFill>
          <a:ln w="381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48640" y="987552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階段1：規劃設計（6個月）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5760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2025/11 - 2026/04 | 預算：2,287萬元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建築師簽約（決標後1週）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需求訪談（社區說明會3場、訪談30人）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初步設計 → 細部設計 → 審查通過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5778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交付：完整施工圖說 + 工程預算書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5943600" cy="822960"/>
          </a:xfrm>
          <a:prstGeom prst="rect">
            <a:avLst/>
          </a:prstGeom>
          <a:solidFill>
            <a:srgbClr val="F5F5F5"/>
          </a:solidFill>
          <a:ln w="2540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48640" y="1947672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階段2：工程施工（14個月）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130552"/>
            <a:ext cx="5760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2026/05 - 2027/06 | 預算：2.0億元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地質調查 → 主體結構（6個月）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機電設備安裝（3個月）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室內裝修 → 景觀 → 驗收測試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55778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交付：使用執照 + 消防安檢合格證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943600" cy="822960"/>
          </a:xfrm>
          <a:prstGeom prst="rect">
            <a:avLst/>
          </a:prstGeom>
          <a:solidFill>
            <a:srgbClr val="F5F5F5"/>
          </a:solidFill>
          <a:ln w="2540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48640" y="2907792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階段3：人員招募與訓練（3個月）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90672"/>
            <a:ext cx="5760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2027/04 - 2027/06 | 預算：300萬元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招募29人（護理師、教保員、照服員）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職前訓練、設備操作訓練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試營運演練、社區宣傳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520440"/>
            <a:ext cx="55778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交付：服務手冊 + SOP文件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943600" cy="822960"/>
          </a:xfrm>
          <a:prstGeom prst="rect">
            <a:avLst/>
          </a:prstGeom>
          <a:solidFill>
            <a:srgbClr val="F5F5F5"/>
          </a:solidFill>
          <a:ln w="2540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548640" y="3867912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階段4：試營運與正式營運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050792"/>
            <a:ext cx="5760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2027/07 試營運 | 2027/09 正式營運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試營運2個月：收托率50%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正式營運目標：6個月達80%，12個月達95%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583680" y="914400"/>
            <a:ext cx="2103120" cy="274320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583680" y="10515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關鍵里程碑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75120" y="137160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6720840" y="138988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2025/10/30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20840" y="149047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標案開標 🔥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169164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6720840" y="170992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2025/12/01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20840" y="181051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建築師簽約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675120" y="201168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6720840" y="202996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2026/04/30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720840" y="213055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施工圖審查通過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75120" y="233172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6720840" y="235000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2026/05/15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720840" y="245059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工程開工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75120" y="265176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720840" y="267004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2027/06/30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20840" y="277063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工程完工驗收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675120" y="297180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6720840" y="299008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2027/09/01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720840" y="309067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正式營運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675120" y="3291840"/>
            <a:ext cx="1920240" cy="2286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6720840" y="3310128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2028/09/01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20840" y="3410712"/>
            <a:ext cx="1828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收支平衡、滿載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83680" y="3840480"/>
            <a:ext cx="2103120" cy="731520"/>
          </a:xfrm>
          <a:prstGeom prst="rect">
            <a:avLst/>
          </a:prstGeom>
          <a:solidFill>
            <a:srgbClr val="E8F5E9"/>
          </a:solidFill>
          <a:ln w="254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Text 45"/>
          <p:cNvSpPr/>
          <p:nvPr/>
        </p:nvSpPr>
        <p:spPr>
          <a:xfrm>
            <a:off x="6675120" y="393192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品質把關機制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72084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每階段獨立驗收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風險管理與應變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社區溝通與參與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專案進度月報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資料來源：10-page-hackathon-presentation-outline.md (Line 903-1007) | 專案管理標準流程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從赤土崎到全台灣：可複製的社福整合模式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371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直接影響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服務家庭數/年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3,500人受惠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節省73萬小時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2.19億元社會價值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560320" cy="1371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200400" y="12801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間接影響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10萬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200400" y="201168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科學園區家庭總數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竹科：5萬家庭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中科：3萬家庭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南科：2.5萬家庭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2560320" cy="1371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5943600" y="12801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擴展潛力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15億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5943600" y="201168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總社會價值（若複製7處）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7,000家庭/年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511萬小時節省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國際示範效應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5486400" cy="15544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8346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潛在複製地點（科學園區周邊）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3200400"/>
            <a:ext cx="5120640" cy="365760"/>
          </a:xfrm>
          <a:prstGeom prst="rect">
            <a:avLst/>
          </a:prstGeom>
          <a:solidFill>
            <a:srgbClr val="E8F5E9"/>
          </a:solidFill>
          <a:ln w="254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731520" y="3246120"/>
            <a:ext cx="49377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🏭 新竹科學園區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3401568"/>
            <a:ext cx="49377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竹科X園區、寶山園區（2處）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657600"/>
            <a:ext cx="5120640" cy="365760"/>
          </a:xfrm>
          <a:prstGeom prst="rect">
            <a:avLst/>
          </a:prstGeom>
          <a:solidFill>
            <a:srgbClr val="E8F5E9"/>
          </a:solidFill>
          <a:ln w="254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731520" y="3703320"/>
            <a:ext cx="49377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🏭 台中科學園區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858768"/>
            <a:ext cx="49377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中科、精密園區（2處）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5120640" cy="365760"/>
          </a:xfrm>
          <a:prstGeom prst="rect">
            <a:avLst/>
          </a:prstGeom>
          <a:solidFill>
            <a:srgbClr val="E8F5E9"/>
          </a:solidFill>
          <a:ln w="25400">
            <a:solidFill>
              <a:srgbClr val="00A65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731520" y="4160520"/>
            <a:ext cx="49377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🏭 台南科學園區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315968"/>
            <a:ext cx="49377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南科、橋頭園區（2處）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743200"/>
            <a:ext cx="2560320" cy="1097280"/>
          </a:xfrm>
          <a:prstGeom prst="rect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6126480" y="288036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若複製7處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26480" y="31089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126480" y="3566160"/>
            <a:ext cx="2560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服務家庭數/年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0" y="3703320"/>
            <a:ext cx="2560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24,500人受惠 | 511萬小時節省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26480" y="3931920"/>
            <a:ext cx="2560320" cy="640080"/>
          </a:xfrm>
          <a:prstGeom prst="rect">
            <a:avLst/>
          </a:prstGeom>
          <a:solidFill>
            <a:srgbClr val="E3F2FD"/>
          </a:solidFill>
          <a:ln w="25400">
            <a:solidFill>
              <a:srgbClr val="0066C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6217920" y="40233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政策影響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63640" y="4206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推動「共生型服務」立法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納入長照3.0策略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國際輸出典範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48463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資料來源：10-page-hackathon-presentation-outline.md (Line 1014-1131) | 科學園區從業人數：科技部統計（2025）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給評審的三個理由：為什麼選擇我們？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64592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1417320" y="1234440"/>
            <a:ext cx="640080" cy="64008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141732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時機就是現在 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標案10/30開標，設計階段黃金窗口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財劃法修正後，新竹市預算+210億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長照3.0、托育新法政策到位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新竹縣社福館成功經驗可複製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164592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4160520" y="1234440"/>
            <a:ext cx="640080" cy="64008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16052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200400" y="19659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財務與技術雙重可行 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2.3億預算，資金來源穩定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月淨收入+51.9萬，年盈餘623萬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SROI 1:2.04，社會價值量化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CDC 2025標準，技術規格明確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1097280"/>
            <a:ext cx="2560320" cy="164592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6903720" y="1234440"/>
            <a:ext cx="640080" cy="640080"/>
          </a:xfrm>
          <a:prstGeom prst="ellipse">
            <a:avLst/>
          </a:prstGeom>
          <a:solidFill>
            <a:srgbClr val="FF660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90372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943600" y="19659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影響力可擴展 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8076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直接服務1,000家庭，節省73萬小時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潛在複製7處，服務10萬家庭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推動台灣版「共生型服務」立法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創造15億元社會價值，國際輸出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solidFill>
            <a:srgbClr val="FFFFFF">
              <a:alpha val="95000"/>
            </a:srgbClr>
          </a:solidFill>
          <a:ln w="50800">
            <a:solidFill>
              <a:srgbClr val="FFD7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48640" y="30632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今天的提案，明天的政策，後天的全台典範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8640" y="34290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不是等政府做，而是政府已經在做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3703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我們只是讓它做得更好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39776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我們準備好了，新竹也準備好了。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0" y="4480560"/>
            <a:ext cx="9144000" cy="59436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報告人：蔡秀吉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赤土崎全齡社福樞紐 — 解決竹科家庭「時間貧窮」的整合方案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1172</Words>
  <Application>Microsoft Office PowerPoint</Application>
  <PresentationFormat>如螢幕大小 (16:9)</PresentationFormat>
  <Paragraphs>301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赤土崎全齡社福樞紐專案團隊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赤土崎全齡社福樞紐 - 114年新竹政策黑客松</dc:title>
  <dc:subject>解決竹科家庭時間貧窮的整合方案</dc:subject>
  <dc:creator>蔡秀吉</dc:creator>
  <cp:lastModifiedBy>秀吉 蔡</cp:lastModifiedBy>
  <cp:revision>2</cp:revision>
  <dcterms:created xsi:type="dcterms:W3CDTF">2025-10-22T20:59:30Z</dcterms:created>
  <dcterms:modified xsi:type="dcterms:W3CDTF">2025-10-26T16:00:13Z</dcterms:modified>
</cp:coreProperties>
</file>