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solidFill>
            <a:srgbClr val="333333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建議添加：竹科晚上8:30停車場燈火通明的照片（Unsplash: 'taiwan science park night'）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「為什麼媽媽你今天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不用在公司？」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竹科孩子在晚上8:30看到媽媽提早回家時，脫口而出的疑問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3017520"/>
            <a:ext cx="1828800" cy="10972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7160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工作-家庭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失衡困境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3017520"/>
            <a:ext cx="1828800" cy="10972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時間貧窮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3017520"/>
            <a:ext cx="1828800" cy="10972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94360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家庭關係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危機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赤土崎全齡社福樞紐 — 解決竹科家庭「時間貧窮」的整合方案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6451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報告人：蔡秀吉 | 資料來源：11篇竹科家庭質性研究分析（2021-2025）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竹科家庭的痛點不是「缺服務」而是「服務分散」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114800" cy="914400"/>
          </a:xfrm>
          <a:prstGeom prst="rect">
            <a:avLst/>
          </a:prstGeom>
          <a:solidFill>
            <a:srgbClr val="FFF3E0"/>
          </a:solidFill>
          <a:ln w="38100">
            <a:solidFill>
              <a:srgbClr val="FF6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🐹 「如同被鐵網困住的倉鼠」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鏡週刊深度報導，2025年6月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（每天在家、公司、托育所之間來回奔波）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痛點分類矩陣（11篇文章分析）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731520" cy="3200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402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54.5%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40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時間類：接送、通勤、等待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731520" cy="3200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51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關係類：夫妻衝突、親子疏離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731520" cy="3200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63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健康類：慢性病、心理健康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731520" cy="3200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74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474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資源類：服務分散、托育不足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一天的動線地圖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3533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07:00 東區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13533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送長輩至日照中心（8公里）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1828800"/>
            <a:ext cx="3657600" cy="45720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19019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07:30 北區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19019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送幼兒至托育中心（6公里）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2377440"/>
            <a:ext cx="3657600" cy="45720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4505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08:00 竹科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24505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到公司上班（5公里）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2926080"/>
            <a:ext cx="3657600" cy="45720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29992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17:00 北區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299923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接小孩放學（5公里）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0" y="3474720"/>
            <a:ext cx="3657600" cy="45720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35478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17:30 東區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35478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接長輩回家（6公里）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4023360"/>
            <a:ext cx="3657600" cy="45720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40965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18:30 回家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40965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終於到家（2公里）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160520"/>
            <a:ext cx="4114800" cy="4572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251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每日總計：32公里 | 2小時 | 精疲力竭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45720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資料來源：hackathon_data_summary.md（痛點分類Line 34-44）| 紮根理論三層編碼分析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赤土崎全齡社福樞紐：用「一館」解決「三代」的時間貧窮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657600" cy="54864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4F 青少年活動中心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30-40人 | 17:00-21:00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657600" cy="548640"/>
          </a:xfrm>
          <a:prstGeom prst="rect">
            <a:avLst/>
          </a:prstGeom>
          <a:solidFill>
            <a:srgbClr val="F3E5F5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02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3F 家庭支持服務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20-30人 | 18:00-21:00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657600" cy="548640"/>
          </a:xfrm>
          <a:prstGeom prst="rect">
            <a:avLst/>
          </a:prstGeom>
          <a:solidFill>
            <a:srgbClr val="FFF3E0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945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 公共托嬰中心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40-50人 | 07:30-17:30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3657600" cy="548640"/>
          </a:xfrm>
          <a:prstGeom prst="rect">
            <a:avLst/>
          </a:prstGeom>
          <a:solidFill>
            <a:srgbClr val="E8F5E9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889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1F 長照日照中心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0175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50-60人 | 09:00-17:00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657600" cy="548640"/>
          </a:xfrm>
          <a:prstGeom prst="rect">
            <a:avLst/>
          </a:prstGeom>
          <a:solidFill>
            <a:srgbClr val="EEEEEE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停車場+設備層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30車位 | 全日開放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3657600" cy="777240"/>
          </a:xfrm>
          <a:prstGeom prst="rect">
            <a:avLst/>
          </a:prstGeom>
          <a:solidFill>
            <a:srgbClr val="FFF9E6"/>
          </a:solidFill>
          <a:ln w="38100">
            <a:solidFill>
              <a:srgbClr val="FFD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233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一站式接送動線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2519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早上：1F送長輩 → 2F送小孩 → 竹科上班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傍晚：竹科下班 → 2F接小孩 → 1F接長輩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晚上：4F青少年活動（家長可在3F諮詢）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1051560"/>
            <a:ext cx="1828800" cy="1371600"/>
          </a:xfrm>
          <a:prstGeom prst="rect">
            <a:avLst/>
          </a:prstGeom>
          <a:solidFill>
            <a:srgbClr val="E8F5E9"/>
          </a:solidFill>
          <a:ln w="38100">
            <a:solidFill>
              <a:srgbClr val="00A6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325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3,100 m²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720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總樓地板面積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(940坪)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1051560"/>
            <a:ext cx="1828800" cy="1371600"/>
          </a:xfrm>
          <a:prstGeom prst="rect">
            <a:avLst/>
          </a:prstGeom>
          <a:solidFill>
            <a:srgbClr val="E8F5E9"/>
          </a:solidFill>
          <a:ln w="38100">
            <a:solidFill>
              <a:srgbClr val="00A6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325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B1+4F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67512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5層建築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整合設計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2651760"/>
            <a:ext cx="1828800" cy="1371600"/>
          </a:xfrm>
          <a:prstGeom prst="rect">
            <a:avLst/>
          </a:prstGeom>
          <a:solidFill>
            <a:srgbClr val="E8F5E9"/>
          </a:solidFill>
          <a:ln w="38100">
            <a:solidFill>
              <a:srgbClr val="00A6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140-180人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57200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每日服務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75120" y="2651760"/>
            <a:ext cx="1828800" cy="1371600"/>
          </a:xfrm>
          <a:prstGeom prst="rect">
            <a:avLst/>
          </a:prstGeom>
          <a:solidFill>
            <a:srgbClr val="E8F5E9"/>
          </a:solidFill>
          <a:ln w="38100">
            <a:solidFill>
              <a:srgbClr val="00A6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29人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67512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專業工作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團隊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資料來源：architectural-floor-plans-2025.md (Line 13-31, 1425-1437)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台灣首創：失智日照 + 公托 + 青少年中心 三合一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114800" cy="77724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418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🔊 隔音設計（CDC 2025標準）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840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STC 65隔音牆 = 「隔壁大哭聽不見」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840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IIC 70地板 = 「樓上籃球聽不見」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840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1F失智專區 vs 2F幼兒區：降噪40-45 dB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4114800" cy="777240"/>
          </a:xfrm>
          <a:prstGeom prst="rect">
            <a:avLst/>
          </a:prstGeom>
          <a:solidFill>
            <a:srgbClr val="FFF3E0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 分時共享策略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3840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共用餐廳錯峰：11:30長者/12:00幼兒（錯開30分）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3840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社區廚房：日間130人供餐/夜間親子烹飪課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4114800" cy="777240"/>
          </a:xfrm>
          <a:prstGeom prst="rect">
            <a:avLst/>
          </a:prstGeom>
          <a:solidFill>
            <a:srgbClr val="E8F5E9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334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跨齡互動時段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3840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每週五10:00-11:00：長者+幼兒園藝活動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3840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每月第3週日：三代同堂節慶活動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154680"/>
            <a:ext cx="3840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每季1次：青少年為長者錄製生命故事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868680"/>
            <a:ext cx="3931920" cy="178308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960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國際實證基礎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128016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🇯🇵 日本共生型服務（2018年實施）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146304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運作6年，感染率未增加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178308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🇳🇱 荷蘭 Humanitas 跨代護理之家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196596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160位長者 + 6位大學生共居10年+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28600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🇹🇼 台灣老幼共學（2016年起）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4688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高雄、台北、新北多處成功案例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788920"/>
            <a:ext cx="393192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8803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技術規格亮點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154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HEPA H13過濾 - 99.97%病毒與PM2.5過濾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獨立空調系統 - 1F、2F各獨立防交叉感染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智慧監控系統 - 跌倒偵測、生理監測、家長APP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4114800" cy="457200"/>
          </a:xfrm>
          <a:prstGeom prst="rect">
            <a:avLst/>
          </a:prstGeom>
          <a:solidFill>
            <a:srgbClr val="E8F5E9"/>
          </a:solidFill>
          <a:ln w="25400">
            <a:solidFill>
              <a:srgbClr val="00A6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566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感染控制SOP：錯峰用餐、共用空間每日紫外線消毒、進出體溫監測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資料來源：cross-age-integration-design-2025.md (Line 30-54) | architectural-floor-plans-2025.md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10/30標案開標（本週三！）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設計階段影響功能的最後窗口 - 錯過就等下一個5年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029200" cy="457200"/>
          </a:xfrm>
          <a:prstGeom prst="rect">
            <a:avLst/>
          </a:prstGeom>
          <a:solidFill>
            <a:srgbClr val="E8F5E9"/>
          </a:solidFill>
          <a:ln w="25400">
            <a:solidFill>
              <a:srgbClr val="00A6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2025/10/07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標案公告 ✓ - 114A109 | 2,287萬元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5029200" cy="457200"/>
          </a:xfrm>
          <a:prstGeom prst="rect">
            <a:avLst/>
          </a:prstGeom>
          <a:solidFill>
            <a:srgbClr val="FFE0B2"/>
          </a:solidFill>
          <a:ln w="50800">
            <a:solidFill>
              <a:srgbClr val="DC14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0876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2025/10/30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開標（本週三）🔥 - 規劃設計及監造技術服務案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5029200" cy="45720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5740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2025/11 - 2026/04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24028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黃金窗口 - 規劃設計階段（6個月）← 納入全齡整合功能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029200" cy="45720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0604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2026/05 - 2027/06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78892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工程施工 - 主體工程（14個月）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5029200" cy="45720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5468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2027/07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33756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正式營運 - 試營運2個月後全面啟用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0" y="914400"/>
            <a:ext cx="3017520" cy="160020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0058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財劃法修正影響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760720" y="132588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修法前（114年）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15087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83億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760720" y="182880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修法後（115年）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2011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293億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5760720" y="2359152"/>
            <a:ext cx="2834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增加+210億（+253%）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2651760"/>
            <a:ext cx="301752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27432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三館規劃進度對比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06440" y="3017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赤土崎多功能館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0" y="3017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✓✓✓ 已發包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06440" y="3337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兒少家庭福利館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98080" y="33375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選址未定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06440" y="36576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少年福利服務中心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98080" y="3657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規劃階段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資料來源：Xin-Zhu-Shi-Zheng-Fu-Biao-An-Fen-Xi.md | 台灣政府電子採購網 | CLAUDE.md (Line 16-38)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2.3億預算，月淨收入+51.9萬，SROI 1:2.04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743200" cy="1097280"/>
          </a:xfrm>
          <a:prstGeom prst="rect">
            <a:avLst/>
          </a:prstGeom>
          <a:solidFill>
            <a:srgbClr val="E8F5E9"/>
          </a:solidFill>
          <a:ln w="38100">
            <a:solidFill>
              <a:srgbClr val="00A6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總預算規模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2.3億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新竹市65.2% + 中央14.6%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企業ESG 3.4%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868680"/>
            <a:ext cx="2743200" cy="1554480"/>
          </a:xfrm>
          <a:prstGeom prst="rect">
            <a:avLst/>
          </a:prstGeom>
          <a:solidFill>
            <a:srgbClr val="E8F5E9"/>
          </a:solidFill>
          <a:ln w="25400">
            <a:solidFill>
              <a:srgbClr val="00A6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9144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月度收入（穩定運營後）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1188720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日照中心（55人）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0" y="118872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145.2萬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144475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托嬰中心（45人）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0" y="144475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65.3萬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20440" y="170078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青少年中心（補助）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0" y="170078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12.5萬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20440" y="1956816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場地租借 + 停車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0" y="195681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20.0萬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20440" y="2221992"/>
            <a:ext cx="2468880" cy="36576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2267712"/>
            <a:ext cx="1737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總月收入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2267712"/>
            <a:ext cx="640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243.0萬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103120"/>
            <a:ext cx="2743200" cy="123444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1762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月度支出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2450592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人事成本（29人）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77440" y="245059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145.0萬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660904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水電瓦斯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77440" y="2660904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2871216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設備維護+食材耗材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0" y="2871216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27.0萬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" y="3090672"/>
            <a:ext cx="2468880" cy="3657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136392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總月支出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77440" y="3136392"/>
            <a:ext cx="640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191.0萬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868680"/>
            <a:ext cx="2377440" cy="100584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960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月淨收入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09360" y="12070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+51.9萬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6309360" y="16459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年盈餘 623萬元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投資回收期 5.8年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2011680"/>
            <a:ext cx="2377440" cy="10058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2103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社會投資報酬率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09360" y="23500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1:2.04</a:t>
            </a:r>
            <a:endParaRPr lang="en-US" sz="3800" dirty="0"/>
          </a:p>
        </p:txBody>
      </p:sp>
      <p:sp>
        <p:nvSpPr>
          <p:cNvPr id="39" name="Text 37"/>
          <p:cNvSpPr/>
          <p:nvPr/>
        </p:nvSpPr>
        <p:spPr>
          <a:xfrm>
            <a:off x="6309360" y="27889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每投入1元，創造2.04元社會價值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309360" y="3108960"/>
            <a:ext cx="2377440" cy="868680"/>
          </a:xfrm>
          <a:prstGeom prst="rect">
            <a:avLst/>
          </a:prstGeom>
          <a:solidFill>
            <a:srgbClr val="E8F5E9"/>
          </a:solidFill>
          <a:ln w="25400">
            <a:solidFill>
              <a:srgbClr val="00A65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32004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財務風險應對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4652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80%收托率即可收支平衡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新竹縣案例：6個月達80%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預留2個月營運準備金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383280" y="2560320"/>
            <a:ext cx="274320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0" y="26517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社會價值產出（每年）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520440" y="290779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時間節省：1.2億元 = 1,000家庭每年多730小時親子時間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關係改善：3,600萬元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健康促進：2,400萬元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資料來源：policy-docking-and-financial-model.md (Line 8-14, 231-296) | SROI：台灣社會影響力研究院標準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新竹縣綜合社福館（2.8億，2023營運）證實模式可行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solidFill>
            <a:srgbClr val="F3E5F5"/>
          </a:solidFill>
          <a:ln w="38100">
            <a:solidFill>
              <a:srgbClr val="9C27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869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不是異想天開，而是有前例可循 — 新竹縣已經做了，新竹市可以做得更好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292608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8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比較項目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298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新竹縣綜合社福館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12984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赤土崎全齡樞紐（本提案）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8229600" cy="292608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716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預算規模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34640" y="13716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2.8億元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577840" y="13716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2.3億元 ⭐ 節省5,000萬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709928"/>
            <a:ext cx="8229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70992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樓層數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34640" y="1709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4層（無地下）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577840" y="17099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B1+4F（5層）✓ 多停車場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048256"/>
            <a:ext cx="8229600" cy="292608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04825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整合功能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34640" y="204825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托嬰+親子+兒少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77840" y="20482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托嬰+親子+兒少+長照 ⭐ 多1項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386584"/>
            <a:ext cx="8229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38658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服務人數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34640" y="23865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約150人/日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77840" y="238658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140-180人/日 ✓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724912"/>
            <a:ext cx="8229600" cy="292608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7249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跨齡設計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34640" y="27249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無明確跨齡活動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77840" y="272491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固定時段跨齡互動 ⭐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063240"/>
            <a:ext cx="8229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0632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SROI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34640" y="30632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未公開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77840" y="30632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1:2.04 ⭐ 數據透明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401568"/>
            <a:ext cx="8229600" cy="292608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40156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營運狀況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834640" y="34015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收支平衡 ✓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收托率95%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滿意度4.2/5.0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77840" y="340156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預計收支平衡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月淨收入+51.9萬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年盈餘623萬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E8F5E9"/>
          </a:solidFill>
          <a:ln w="25400">
            <a:solidFill>
              <a:srgbClr val="00A6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成本節省來源：共用餐廳（錯峰使用）、共用活動空間、整合管理團隊（統一排班）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資料來源：新竹縣政府社會處、綜合社福館營運報告（2024年中）| CLAUDE.md標竿分析章節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從標案到營運：18個月實施路徑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5943600" cy="731520"/>
          </a:xfrm>
          <a:prstGeom prst="rect">
            <a:avLst/>
          </a:prstGeom>
          <a:solidFill>
            <a:srgbClr val="E3F2FD"/>
          </a:solidFill>
          <a:ln w="38100">
            <a:solidFill>
              <a:srgbClr val="FF6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23544"/>
            <a:ext cx="5760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階段1：規劃設計（6個月）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88136"/>
            <a:ext cx="5760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2025/11 - 2026/04 | 預算：2,287萬元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5669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建築師簽約（決標後1週）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需求訪談（社區說明會3場、訪談30人）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初步設計 → 細部設計 → 審查通過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490472"/>
            <a:ext cx="55778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交付：完整施工圖說 + 工程預算書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9436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92224"/>
            <a:ext cx="5760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階段2：工程施工（14個月）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956816"/>
            <a:ext cx="5760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2026/05 - 2027/06 | 預算：2.0億元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5669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地質調查 → 主體結構（6個月）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機電設備安裝（3個月）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室內裝修 → 景觀 → 驗收測試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359152"/>
            <a:ext cx="55778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交付：使用執照 + 消防安檢合格證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59436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60904"/>
            <a:ext cx="5760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階段3：人員招募與訓練（3個月，並行）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825496"/>
            <a:ext cx="5760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2027/04 - 2027/06 | 預算：300萬元 + 新竹縣見習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971800"/>
            <a:ext cx="5669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招募29人（護理師、教保員、照服員）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職前訓練、設備操作訓練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派員至新竹縣社福館見習1個月（快速上手）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3227832"/>
            <a:ext cx="55778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交付：服務手冊 + SOP文件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59436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29584"/>
            <a:ext cx="5760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階段4：試營運與正式營運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694176"/>
            <a:ext cx="5760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2027/07 試營運 | 2027/09 正式營運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840480"/>
            <a:ext cx="5669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試營運2個月：收托率50%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正式營運目標：6個月達80%，12個月達95%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583680" y="868680"/>
            <a:ext cx="2103120" cy="246888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9601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關鍵里程碑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75120" y="1234440"/>
            <a:ext cx="1920240" cy="21031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1252728"/>
            <a:ext cx="18288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2025/10/30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20840" y="1344168"/>
            <a:ext cx="18288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標案開標 🔥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675120" y="1536192"/>
            <a:ext cx="1920240" cy="21031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1554480"/>
            <a:ext cx="18288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2025/12/01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20840" y="1645920"/>
            <a:ext cx="18288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建築師簽約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675120" y="1837944"/>
            <a:ext cx="1920240" cy="21031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1856232"/>
            <a:ext cx="18288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2026/04/30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20840" y="1947672"/>
            <a:ext cx="18288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施工圖審查通過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675120" y="2139696"/>
            <a:ext cx="1920240" cy="21031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720840" y="2157984"/>
            <a:ext cx="18288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2026/05/15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20840" y="2249424"/>
            <a:ext cx="18288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工程開工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675120" y="2441448"/>
            <a:ext cx="1920240" cy="21031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2459736"/>
            <a:ext cx="18288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2027/06/30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20840" y="2551176"/>
            <a:ext cx="18288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工程完工驗收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675120" y="2743200"/>
            <a:ext cx="1920240" cy="21031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720840" y="2761488"/>
            <a:ext cx="18288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2027/09/01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20840" y="2852928"/>
            <a:ext cx="18288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正式營運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675120" y="3044952"/>
            <a:ext cx="1920240" cy="210312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720840" y="3063240"/>
            <a:ext cx="18288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2028/09/01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20840" y="3154680"/>
            <a:ext cx="1828800" cy="82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收支平衡、滿載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583680" y="3474720"/>
            <a:ext cx="2103120" cy="731520"/>
          </a:xfrm>
          <a:prstGeom prst="rect">
            <a:avLst/>
          </a:prstGeom>
          <a:solidFill>
            <a:srgbClr val="E8F5E9"/>
          </a:solidFill>
          <a:ln w="25400">
            <a:solidFill>
              <a:srgbClr val="00A6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0" y="356616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品質把關機制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720840" y="37764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每階段獨立驗收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風險管理與應變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社區溝通與參與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專案進度月報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資料來源：10-page-hackathon-presentation-outline.md (Line 903-1007) | 專案管理標準流程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從赤土崎到全台灣：可複製的社福整合模式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60320" cy="128016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247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直接影響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0136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服務家庭數/年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3,500人受惠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節省73萬小時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2.19億元社會價值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560320" cy="128016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1247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間接影響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10萬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0" y="180136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科學園區家庭總數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2011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竹科：5萬家庭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中科：3萬家庭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南科：2.5萬家庭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0" y="1051560"/>
            <a:ext cx="2560320" cy="128016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1247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擴展潛力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15億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943600" y="180136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總社會價值（若複製7處）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2011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7,000家庭/年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511萬小時節省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國際示範效應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5486400" cy="146304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5603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潛在複製地點（科學園區周邊）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2880360"/>
            <a:ext cx="5120640" cy="347472"/>
          </a:xfrm>
          <a:prstGeom prst="rect">
            <a:avLst/>
          </a:prstGeom>
          <a:solidFill>
            <a:srgbClr val="E8F5E9"/>
          </a:solidFill>
          <a:ln w="25400">
            <a:solidFill>
              <a:srgbClr val="00A6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926080"/>
            <a:ext cx="4937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新竹科學園區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063240"/>
            <a:ext cx="4937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竹科X園區、寶山園區（2處）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3291840"/>
            <a:ext cx="5120640" cy="347472"/>
          </a:xfrm>
          <a:prstGeom prst="rect">
            <a:avLst/>
          </a:prstGeom>
          <a:solidFill>
            <a:srgbClr val="E8F5E9"/>
          </a:solidFill>
          <a:ln w="25400">
            <a:solidFill>
              <a:srgbClr val="00A6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337560"/>
            <a:ext cx="4937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台中科學園區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3474720"/>
            <a:ext cx="4937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中科、精密園區（2處）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3703320"/>
            <a:ext cx="5120640" cy="347472"/>
          </a:xfrm>
          <a:prstGeom prst="rect">
            <a:avLst/>
          </a:prstGeom>
          <a:solidFill>
            <a:srgbClr val="E8F5E9"/>
          </a:solidFill>
          <a:ln w="25400">
            <a:solidFill>
              <a:srgbClr val="00A6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749040"/>
            <a:ext cx="4937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台南科學園區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3886200"/>
            <a:ext cx="4937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南科、橋頭園區（2處）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2468880"/>
            <a:ext cx="2560320" cy="10058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25786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若複製7處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26480" y="2788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7,000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126480" y="3218688"/>
            <a:ext cx="2560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服務家庭數/年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3355848"/>
            <a:ext cx="2560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24,500人受惠 | 511萬小時節省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126480" y="3611880"/>
            <a:ext cx="2560320" cy="59436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7033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政策影響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3904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推動「共生型服務」立法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納入長照3.0策略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國際輸出典範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4114800"/>
            <a:ext cx="5486400" cy="502920"/>
          </a:xfrm>
          <a:prstGeom prst="rect">
            <a:avLst/>
          </a:prstGeom>
          <a:solidFill>
            <a:srgbClr val="FFD700">
              <a:alpha val="80000"/>
            </a:srgbClr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2245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擴展條件：赤土崎案成功營運1年 → 建立SOP手冊 → 科技部補助計畫（每處1億）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資料來源：10-page-hackathon-presentation-outline.md (Line 1014-1131) | 科學園區從業人數：科技部統計（2025）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6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給評審的三個理由：為什麼選擇我們？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560320" cy="150876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1069848"/>
            <a:ext cx="640080" cy="64008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0698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時機就是現在 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025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標案10/30開標，設計階段黃金窗口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財劃法修正後，新竹市預算+210億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長照3.0、托育新法政策到位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新竹縣社福館成功經驗可複製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560320" cy="150876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160520" y="1069848"/>
            <a:ext cx="640080" cy="64008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0" name="Text 8"/>
          <p:cNvSpPr/>
          <p:nvPr/>
        </p:nvSpPr>
        <p:spPr>
          <a:xfrm>
            <a:off x="4160520" y="10698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0" y="17556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財務與技術雙重可行 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0025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2.3億預算，資金來源穩定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月淨收入+51.9萬，年盈餘623萬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SROI 1:2.04，社會價值量化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CDC 2025標準，技術規格明確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0" y="960120"/>
            <a:ext cx="2560320" cy="150876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903720" y="1069848"/>
            <a:ext cx="640080" cy="64008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10698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943600" y="17556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影響力可擴展 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20025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直接服務1,000家庭，節省73萬小時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潛在複製7處，服務10萬家庭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推動台灣版「共生型服務」立法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創造15億元社會價值，國際輸出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8229600" cy="1234440"/>
          </a:xfrm>
          <a:prstGeom prst="rect">
            <a:avLst/>
          </a:prstGeom>
          <a:solidFill>
            <a:srgbClr val="FFFFFF">
              <a:alpha val="95000"/>
            </a:srgbClr>
          </a:solidFill>
          <a:ln w="5080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2491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C1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今天的提案，明天的政策，後天的全台典範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48640" y="30632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不是等政府做，而是政府已經在做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3101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我們只是讓它做得更好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3557016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我們準備好了，新竹也準備好了。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0" y="4023360"/>
            <a:ext cx="9144000" cy="10515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1605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報告人：蔡秀吉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44074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赤土崎全齡社福樞紐 — 解決竹科家庭「時間貧窮」的整合方案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64515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聯絡方式：[請填入電話] | [請填入Email] | 詳細資料與Q&amp;A準備完整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赤土崎全齡社福樞紐專案團隊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赤土崎全齡社福樞紐 - 114年新竹政策黑客松</dc:title>
  <dc:subject>解決竹科家庭時間貧窮的整合方案</dc:subject>
  <dc:creator>蔡秀吉</dc:creator>
  <cp:lastModifiedBy>蔡秀吉</cp:lastModifiedBy>
  <cp:revision>1</cp:revision>
  <dcterms:created xsi:type="dcterms:W3CDTF">2025-10-22T21:09:20Z</dcterms:created>
  <dcterms:modified xsi:type="dcterms:W3CDTF">2025-10-22T21:09:20Z</dcterms:modified>
</cp:coreProperties>
</file>