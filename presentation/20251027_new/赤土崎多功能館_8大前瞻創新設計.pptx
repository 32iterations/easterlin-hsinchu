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F88"/>
                </a:solidFill>
              </a:defRPr>
            </a:pPr>
            <a:r>
              <a:t>赤土崎多功能館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CCFF"/>
                </a:solidFill>
              </a:defRPr>
            </a:pPr>
            <a:r>
              <a:t>8大前瞻創新設計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新竹市114年政策黑客松提案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竹科家庭全齡支持中心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1️⃣ AI記憶重生系統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00FF88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1F 失智症專區 (156 m²)</a:t>
            </a:r>
          </a:p>
          <a:p>
            <a:pPr>
              <a:spcBef>
                <a:spcPts val="1200"/>
              </a:spcBef>
              <a:defRPr sz="1600" b="1">
                <a:solidFill>
                  <a:srgbClr val="00FF88"/>
                </a:solidFill>
              </a:defRPr>
            </a:pPr>
            <a:r>
              <a:t>核心技術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AI感測設備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互動投影系統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記憶喚醒算法</a:t>
            </a:r>
          </a:p>
          <a:p>
            <a:pPr>
              <a:spcBef>
                <a:spcPts val="1200"/>
              </a:spcBef>
              <a:defRPr sz="1600" b="1">
                <a:solidFill>
                  <a:srgbClr val="00FF88"/>
                </a:solidFill>
              </a:defRPr>
            </a:pPr>
            <a:r>
              <a:t>創新亮點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全台首創AI輔助失智症記憶療法，結合感測與投影技術協助長輩喚醒珍貴記憶</a:t>
            </a:r>
          </a:p>
          <a:p>
            <a:pPr>
              <a:spcBef>
                <a:spcPts val="1200"/>
              </a:spcBef>
              <a:defRPr sz="1600" b="1">
                <a:solidFill>
                  <a:srgbClr val="00FF88"/>
                </a:solidFill>
              </a:defRPr>
            </a:pPr>
            <a:r>
              <a:t>設備規格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感測設備×12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互動投影×4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活動室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無障礙衛浴</a:t>
            </a:r>
          </a:p>
          <a:p>
            <a:pPr>
              <a:spcBef>
                <a:spcPts val="1200"/>
              </a:spcBef>
              <a:defRPr sz="1600" b="1">
                <a:solidFill>
                  <a:srgbClr val="00FF88"/>
                </a:solidFill>
              </a:defRPr>
            </a:pPr>
            <a:r>
              <a:t>政策對接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長照2.0 - 失智症照護服務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</a:defRPr>
            </a:pPr>
            <a:r>
              <a:t>2️⃣ 時間銀行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FFAA00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1F 共享空間</a:t>
            </a:r>
          </a:p>
          <a:p>
            <a:pPr>
              <a:spcBef>
                <a:spcPts val="1200"/>
              </a:spcBef>
              <a:defRPr sz="1600" b="1">
                <a:solidFill>
                  <a:srgbClr val="FFAA00"/>
                </a:solidFill>
              </a:defRPr>
            </a:pPr>
            <a:r>
              <a:t>核心概念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志工時數儲存與兌換，建立社區互助經濟體系</a:t>
            </a:r>
          </a:p>
          <a:p>
            <a:pPr>
              <a:spcBef>
                <a:spcPts val="1200"/>
              </a:spcBef>
              <a:defRPr sz="1600" b="1">
                <a:solidFill>
                  <a:srgbClr val="FFAA00"/>
                </a:solidFill>
              </a:defRPr>
            </a:pPr>
            <a:r>
              <a:t>創新亮點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突破傳統志工模式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創造社區貨幣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永續互助機制</a:t>
            </a:r>
          </a:p>
          <a:p>
            <a:pPr>
              <a:spcBef>
                <a:spcPts val="1200"/>
              </a:spcBef>
              <a:defRPr sz="1600" b="1">
                <a:solidFill>
                  <a:srgbClr val="FFAA00"/>
                </a:solidFill>
              </a:defRPr>
            </a:pPr>
            <a:r>
              <a:t>設施配置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時數兌換台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檔案櫃系統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交流討論區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數位管理平台</a:t>
            </a:r>
          </a:p>
          <a:p>
            <a:pPr>
              <a:spcBef>
                <a:spcPts val="1200"/>
              </a:spcBef>
              <a:defRPr sz="1600" b="1">
                <a:solidFill>
                  <a:srgbClr val="FFAA00"/>
                </a:solidFill>
              </a:defRPr>
            </a:pPr>
            <a:r>
              <a:t>參與式預算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5F大會堂可容納250人進行社區治理討論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6464"/>
                </a:solidFill>
              </a:defRPr>
            </a:pPr>
            <a:r>
              <a:t>3️⃣ SIDS嬰兒猝死監測系統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FF6464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2F 嬰兒教室 (120 m²)</a:t>
            </a:r>
          </a:p>
          <a:p>
            <a:pPr>
              <a:spcBef>
                <a:spcPts val="1200"/>
              </a:spcBef>
              <a:defRPr sz="1600" b="1">
                <a:solidFill>
                  <a:srgbClr val="FF6464"/>
                </a:solidFill>
              </a:defRPr>
            </a:pPr>
            <a:r>
              <a:t>技術規格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98%靈敏度的即時生理監測系統</a:t>
            </a:r>
          </a:p>
          <a:p>
            <a:pPr>
              <a:spcBef>
                <a:spcPts val="1200"/>
              </a:spcBef>
              <a:defRPr sz="1600" b="1">
                <a:solidFill>
                  <a:srgbClr val="FF6464"/>
                </a:solidFill>
              </a:defRPr>
            </a:pPr>
            <a:r>
              <a:t>創新亮點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🏆 新竹市首座配備完整SIDS系統的公共托嬰中心</a:t>
            </a:r>
          </a:p>
          <a:p>
            <a:pPr>
              <a:spcBef>
                <a:spcPts val="1200"/>
              </a:spcBef>
              <a:defRPr sz="1600" b="1">
                <a:solidFill>
                  <a:srgbClr val="FF6464"/>
                </a:solidFill>
              </a:defRPr>
            </a:pPr>
            <a:r>
              <a:t>監測設備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SIDS監測器×50組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嬰兒床×50張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中央監控系統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緊急警報</a:t>
            </a:r>
          </a:p>
          <a:p>
            <a:pPr>
              <a:spcBef>
                <a:spcPts val="1200"/>
              </a:spcBef>
              <a:defRPr sz="1600" b="1">
                <a:solidFill>
                  <a:srgbClr val="FF6464"/>
                </a:solidFill>
              </a:defRPr>
            </a:pPr>
            <a:r>
              <a:t>監測項目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呼吸頻率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心跳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體溫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血氧濃度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睡姿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00FF"/>
                </a:solidFill>
              </a:defRPr>
            </a:pPr>
            <a:r>
              <a:t>4️⃣ 跨代互動室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FF00FF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3F 中央區域 (49.5 m²)</a:t>
            </a:r>
          </a:p>
          <a:p>
            <a:pPr>
              <a:spcBef>
                <a:spcPts val="1200"/>
              </a:spcBef>
              <a:defRPr sz="1600" b="1">
                <a:solidFill>
                  <a:srgbClr val="FF00FF"/>
                </a:solidFill>
              </a:defRPr>
            </a:pPr>
            <a:r>
              <a:t>核心價值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打破世代隔閡，創造社會資本</a:t>
            </a:r>
          </a:p>
          <a:p>
            <a:pPr>
              <a:spcBef>
                <a:spcPts val="1200"/>
              </a:spcBef>
              <a:defRPr sz="1600" b="1">
                <a:solidFill>
                  <a:srgbClr val="FF00FF"/>
                </a:solidFill>
              </a:defRPr>
            </a:pPr>
            <a:r>
              <a:t>活動類型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藝術共創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技藝傳承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生命故事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節慶慶典</a:t>
            </a:r>
          </a:p>
          <a:p>
            <a:pPr>
              <a:spcBef>
                <a:spcPts val="1200"/>
              </a:spcBef>
              <a:defRPr sz="1600" b="1">
                <a:solidFill>
                  <a:srgbClr val="FF00FF"/>
                </a:solidFill>
              </a:defRPr>
            </a:pPr>
            <a:r>
              <a:t>設施配置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工作台×3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座位×12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藝術用品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展示區</a:t>
            </a:r>
          </a:p>
          <a:p>
            <a:pPr>
              <a:spcBef>
                <a:spcPts val="1200"/>
              </a:spcBef>
              <a:defRPr sz="1600" b="1">
                <a:solidFill>
                  <a:srgbClr val="FF00FF"/>
                </a:solidFill>
              </a:defRPr>
            </a:pPr>
            <a:r>
              <a:t>實證效益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研究顯示跨代互動可提升長輩生活品質，並增強青少年同理心與自信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CFF"/>
                </a:solidFill>
              </a:defRPr>
            </a:pPr>
            <a:r>
              <a:t>5️⃣ VR共學教室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00CCFF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4F 投影展示區 (36 m²)</a:t>
            </a:r>
          </a:p>
          <a:p>
            <a:pPr>
              <a:spcBef>
                <a:spcPts val="1200"/>
              </a:spcBef>
              <a:defRPr sz="1600" b="1">
                <a:solidFill>
                  <a:srgbClr val="00CCFF"/>
                </a:solidFill>
              </a:defRPr>
            </a:pPr>
            <a:r>
              <a:t>核心設備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VR頭盔×10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4K攝影棚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綠幕系統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編輯工作站×4</a:t>
            </a:r>
          </a:p>
          <a:p>
            <a:pPr>
              <a:spcBef>
                <a:spcPts val="1200"/>
              </a:spcBef>
              <a:defRPr sz="1600" b="1">
                <a:solidFill>
                  <a:srgbClr val="00CCFF"/>
                </a:solidFill>
              </a:defRPr>
            </a:pPr>
            <a:r>
              <a:t>創新亮點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沉浸式虛擬實境學習 + 影音創作編輯一體化</a:t>
            </a:r>
          </a:p>
          <a:p>
            <a:pPr>
              <a:spcBef>
                <a:spcPts val="1200"/>
              </a:spcBef>
              <a:defRPr sz="1600" b="1">
                <a:solidFill>
                  <a:srgbClr val="00CCFF"/>
                </a:solidFill>
              </a:defRPr>
            </a:pPr>
            <a:r>
              <a:t>應用場景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歷史文化體驗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科學實驗模擬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Podcast錄製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影音剪輯教學</a:t>
            </a:r>
          </a:p>
          <a:p>
            <a:pPr>
              <a:spcBef>
                <a:spcPts val="1200"/>
              </a:spcBef>
              <a:defRPr sz="1600" b="1">
                <a:solidFill>
                  <a:srgbClr val="00CCFF"/>
                </a:solidFill>
              </a:defRPr>
            </a:pPr>
            <a:r>
              <a:t>技術優勢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VR學習記憶保留率比傳統教學提升9%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6️⃣ STEM科技教室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00FFC8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4F 北西區 (45 m²)</a:t>
            </a:r>
          </a:p>
          <a:p>
            <a:pPr>
              <a:spcBef>
                <a:spcPts val="1200"/>
              </a:spcBef>
              <a:defRPr sz="1600" b="1">
                <a:solidFill>
                  <a:srgbClr val="00FFC8"/>
                </a:solidFill>
              </a:defRPr>
            </a:pPr>
            <a:r>
              <a:t>核心設備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Arduino×10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Raspberry Pi×10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3D列印機×2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機器人套件×10</a:t>
            </a:r>
          </a:p>
          <a:p>
            <a:pPr>
              <a:spcBef>
                <a:spcPts val="1200"/>
              </a:spcBef>
              <a:defRPr sz="1600" b="1">
                <a:solidFill>
                  <a:srgbClr val="00FFC8"/>
                </a:solidFill>
              </a:defRPr>
            </a:pPr>
            <a:r>
              <a:t>創新亮點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完整創客教育生態系統，培養新世代工程師</a:t>
            </a:r>
          </a:p>
          <a:p>
            <a:pPr>
              <a:spcBef>
                <a:spcPts val="1200"/>
              </a:spcBef>
              <a:defRPr sz="1600" b="1">
                <a:solidFill>
                  <a:srgbClr val="00FFC8"/>
                </a:solidFill>
              </a:defRPr>
            </a:pPr>
            <a:r>
              <a:t>教學模組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程式設計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電子電路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3D建模列印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機器人競賽</a:t>
            </a:r>
          </a:p>
          <a:p>
            <a:pPr>
              <a:spcBef>
                <a:spcPts val="1200"/>
              </a:spcBef>
              <a:defRPr sz="1600" b="1">
                <a:solidFill>
                  <a:srgbClr val="00FFC8"/>
                </a:solidFill>
              </a:defRPr>
            </a:pPr>
            <a:r>
              <a:t>產業連結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串聯竹科企業資源，提供實習與職涯探索機會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64C800"/>
                </a:solidFill>
              </a:defRPr>
            </a:pPr>
            <a:r>
              <a:t>7️⃣ 太陽能綠能系統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64C800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7F 頂層 (99 m²)</a:t>
            </a:r>
          </a:p>
          <a:p>
            <a:pPr>
              <a:spcBef>
                <a:spcPts val="1200"/>
              </a:spcBef>
              <a:defRPr sz="1600" b="1">
                <a:solidFill>
                  <a:srgbClr val="64C800"/>
                </a:solidFill>
              </a:defRPr>
            </a:pPr>
            <a:r>
              <a:t>系統規格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太陽能板×6片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發電設備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即時監控系統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儲能系統</a:t>
            </a:r>
          </a:p>
          <a:p>
            <a:pPr>
              <a:spcBef>
                <a:spcPts val="1200"/>
              </a:spcBef>
              <a:defRPr sz="1600" b="1">
                <a:solidFill>
                  <a:srgbClr val="64C800"/>
                </a:solidFill>
              </a:defRPr>
            </a:pPr>
            <a:r>
              <a:t>創新亮點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建築能源自主，響應淨零碳排目標</a:t>
            </a:r>
          </a:p>
          <a:p>
            <a:pPr>
              <a:spcBef>
                <a:spcPts val="1200"/>
              </a:spcBef>
              <a:defRPr sz="1600" b="1">
                <a:solidFill>
                  <a:srgbClr val="64C800"/>
                </a:solidFill>
              </a:defRPr>
            </a:pPr>
            <a:r>
              <a:t>環境效益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年發電量約3.5萬度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減碳約18公噸/年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節省電費約10萬/年</a:t>
            </a:r>
          </a:p>
          <a:p>
            <a:pPr>
              <a:spcBef>
                <a:spcPts val="1200"/>
              </a:spcBef>
              <a:defRPr sz="1600" b="1">
                <a:solidFill>
                  <a:srgbClr val="64C800"/>
                </a:solidFill>
              </a:defRPr>
            </a:pPr>
            <a:r>
              <a:t>教育價值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結合STEM教室進行綠能教育，培養環境永續意識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9664FF"/>
                </a:solidFill>
              </a:defRPr>
            </a:pPr>
            <a:r>
              <a:t>8️⃣ ESG企業展示廳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9664FF"/>
                </a:solidFill>
              </a:defRPr>
            </a:pPr>
            <a:r>
              <a:t>樓層位置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6F (240 m²)</a:t>
            </a:r>
          </a:p>
          <a:p>
            <a:pPr>
              <a:spcBef>
                <a:spcPts val="1200"/>
              </a:spcBef>
              <a:defRPr sz="1600" b="1">
                <a:solidFill>
                  <a:srgbClr val="9664FF"/>
                </a:solidFill>
              </a:defRPr>
            </a:pPr>
            <a:r>
              <a:t>核心功能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串聯竹科企業CSR資源，建立公私協力生態系</a:t>
            </a:r>
          </a:p>
          <a:p>
            <a:pPr>
              <a:spcBef>
                <a:spcPts val="1200"/>
              </a:spcBef>
              <a:defRPr sz="1600" b="1">
                <a:solidFill>
                  <a:srgbClr val="9664FF"/>
                </a:solidFill>
              </a:defRPr>
            </a:pPr>
            <a:r>
              <a:t>展示內容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企業永續實踐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DEI多元共融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社會創新專案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員工志工成果</a:t>
            </a:r>
          </a:p>
          <a:p>
            <a:pPr>
              <a:spcBef>
                <a:spcPts val="1200"/>
              </a:spcBef>
              <a:defRPr sz="1600" b="1">
                <a:solidFill>
                  <a:srgbClr val="9664FF"/>
                </a:solidFill>
              </a:defRPr>
            </a:pPr>
            <a:r>
              <a:t>設施配置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展示櫃×8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互動螢幕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業師辦公室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• 會議室</a:t>
            </a:r>
          </a:p>
          <a:p>
            <a:pPr>
              <a:spcBef>
                <a:spcPts val="1200"/>
              </a:spcBef>
              <a:defRPr sz="1600" b="1">
                <a:solidFill>
                  <a:srgbClr val="9664FF"/>
                </a:solidFill>
              </a:defRPr>
            </a:pPr>
            <a:r>
              <a:t>商業模式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企業贊助換取展示空間，資源投入社福服務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88"/>
                </a:solidFill>
              </a:defRPr>
            </a:pPr>
            <a:r>
              <a:t>🎯 致勝公式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高門檻 (社福專業 + 空間規劃)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CCFF"/>
                </a:solidFill>
              </a:defRPr>
            </a:pPr>
            <a:r>
              <a:t>+</a:t>
            </a:r>
          </a:p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政策對接 (標案 2,287萬 + 財劃法 214億)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CCFF"/>
                </a:solidFill>
              </a:defRPr>
            </a:pPr>
            <a:r>
              <a:t>+</a:t>
            </a:r>
          </a:p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普世共鳴 (竹科家庭痛點)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CCFF"/>
                </a:solidFill>
              </a:defRPr>
            </a:pPr>
            <a:r>
              <a:t>+</a:t>
            </a:r>
          </a:p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可落地性 (8大創新技術實證)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CCFF"/>
                </a:solidFill>
              </a:defRPr>
            </a:pPr>
            <a:r>
              <a:t>=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FFD700"/>
                </a:solidFill>
              </a:defRPr>
            </a:pPr>
            <a:r>
              <a:t>🏆 新竹政策黑客松冠軍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