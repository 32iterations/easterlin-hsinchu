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00FF88"/>
                </a:solidFill>
              </a:defRPr>
            </a:pPr>
            <a:r>
              <a:t>赤土崎全齡社福樞紐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CCFF"/>
                </a:solidFill>
              </a:defRPr>
            </a:pPr>
            <a:r>
              <a:t>竹科家庭全齡支持中心 - 解決時間貧窮危機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B4B4"/>
                </a:solidFill>
              </a:defRPr>
            </a:pPr>
            <a:r>
              <a:t>2025 新竹政策黑客松提案 | 標案 114A109 | 設計預算 2,287 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464"/>
                </a:solidFill>
              </a:defRPr>
            </a:pPr>
            <a:r>
              <a:t>💔 年薪 300 萬的「甲級貧戶」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2000" b="1">
                <a:solidFill>
                  <a:srgbClr val="FFAA00"/>
                </a:solidFill>
              </a:defRPr>
            </a:pPr>
            <a:r>
              <a:t>🔸 時間貧窮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   • 每日接送 2 小時 × 250 天 = 500 小時/年</a:t>
            </a:r>
          </a:p>
          <a:p>
            <a:pPr lvl="1">
              <a:defRPr sz="1200">
                <a:solidFill>
                  <a:srgbClr val="B4B4B4"/>
                </a:solidFill>
              </a:defRPr>
            </a:pPr>
            <a:r>
              <a:t>   • 相當於 20 天家庭時間被通勤吃掉</a:t>
            </a:r>
          </a:p>
          <a:p>
            <a:pPr>
              <a:spcBef>
                <a:spcPts val="1600"/>
              </a:spcBef>
              <a:defRPr sz="2000" b="1">
                <a:solidFill>
                  <a:srgbClr val="FFAA00"/>
                </a:solidFill>
              </a:defRPr>
            </a:pPr>
            <a:r>
              <a:t>🔸 服務分散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   • 長照在東區、托嬰在北區、課輔在香山</a:t>
            </a:r>
          </a:p>
          <a:p>
            <a:pPr lvl="1">
              <a:defRPr sz="1200">
                <a:solidFill>
                  <a:srgbClr val="B4B4B4"/>
                </a:solidFill>
              </a:defRPr>
            </a:pPr>
            <a:r>
              <a:t>   • 3 個地點 × 3 趟往返 = 精疲力盡</a:t>
            </a:r>
          </a:p>
          <a:p>
            <a:pPr>
              <a:spcBef>
                <a:spcPts val="1600"/>
              </a:spcBef>
              <a:defRPr sz="2000" b="1">
                <a:solidFill>
                  <a:srgbClr val="FFAA00"/>
                </a:solidFill>
              </a:defRPr>
            </a:pPr>
            <a:r>
              <a:t>🔸 托育困難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   • 公托排隊 16-20 個月，私托 3-5 萬/月</a:t>
            </a:r>
          </a:p>
          <a:p>
            <a:pPr lvl="1">
              <a:defRPr sz="1200">
                <a:solidFill>
                  <a:srgbClr val="B4B4B4"/>
                </a:solidFill>
              </a:defRPr>
            </a:pPr>
            <a:r>
              <a:t>   • 雙薪家庭也負擔沉重</a:t>
            </a:r>
          </a:p>
          <a:p>
            <a:pPr>
              <a:spcBef>
                <a:spcPts val="1600"/>
              </a:spcBef>
              <a:defRPr sz="2000" b="1">
                <a:solidFill>
                  <a:srgbClr val="FFAA00"/>
                </a:solidFill>
              </a:defRPr>
            </a:pPr>
            <a:r>
              <a:t>🔸 心理壓力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   • 竹科社群焦慮、育兒孤立、婚姻緊張</a:t>
            </a:r>
          </a:p>
          <a:p>
            <a:pPr lvl="1">
              <a:defRPr sz="1200">
                <a:solidFill>
                  <a:srgbClr val="B4B4B4"/>
                </a:solidFill>
              </a:defRPr>
            </a:pPr>
            <a:r>
              <a:t>   • 36.4% 文獻提及關係危機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FF88"/>
                </a:solidFill>
              </a:defRPr>
            </a:pPr>
            <a:r>
              <a:t>🎯 根本原因：服務分散 ≠ 缺服務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00CCFF"/>
                </a:solidFill>
              </a:defRPr>
            </a:pPr>
            <a:r>
              <a:t>「竹科家庭的痛點不是『缺服務』，而是『服務分散』」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560320" cy="457200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0A0E27"/>
                </a:solidFill>
              </a:defRPr>
            </a:pPr>
            <a:r>
              <a:t>現況模式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103120"/>
            <a:ext cx="2560320" cy="457200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10312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0A0E27"/>
                </a:solidFill>
              </a:defRPr>
            </a:pPr>
            <a:r>
              <a:t>整合方案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03120"/>
            <a:ext cx="2560320" cy="457200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0A0E27"/>
                </a:solidFill>
              </a:defRPr>
            </a:pPr>
            <a:r>
              <a:t>改善幅度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39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39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3 個地點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606039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606039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1 棟建築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606039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606039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↓ 67% 通勤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年補助 5,500萬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108960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10896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年補助 0 萬 (Year 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108960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10896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↓ 100% 依賴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11880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1188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各自管理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611880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61188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垂直整合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611880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61188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↑ 300% 空間效率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114800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2 小時/日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114800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411480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30 分鐘/日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114800"/>
            <a:ext cx="2560320" cy="45720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4114800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↑ 1.5 小時家庭時間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64FF64"/>
                </a:solidFill>
              </a:defRPr>
            </a:pPr>
            <a:r>
              <a:t>🏢 解決方案：垂直整合 One-Stop 服務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731520" cy="548640"/>
          </a:xfrm>
          <a:prstGeom prst="roundRect">
            <a:avLst/>
          </a:prstGeom>
          <a:solidFill>
            <a:srgbClr val="14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7315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280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停車場 + 機電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5727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30 車位 (含無障礙)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920239"/>
            <a:ext cx="731520" cy="54864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20239"/>
            <a:ext cx="7315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9202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長照日照中心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1284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50-60 位長輩/日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560320"/>
            <a:ext cx="731520" cy="548640"/>
          </a:xfrm>
          <a:prstGeom prst="roundRect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560320"/>
            <a:ext cx="7315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560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公共托嬰中心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85292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40-50 位嬰幼兒/日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200399"/>
            <a:ext cx="731520" cy="548640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200399"/>
            <a:ext cx="7315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20039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家庭支持服務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49300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諮商 + 社區廚房 + 志工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3840479"/>
            <a:ext cx="731520" cy="548640"/>
          </a:xfrm>
          <a:prstGeom prst="roundRect">
            <a:avLst/>
          </a:prstGeom>
          <a:solidFill>
            <a:srgbClr val="96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840479"/>
            <a:ext cx="7315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84047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青少年活動中心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13308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30-40 位青少年/日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1371600"/>
            <a:ext cx="2560320" cy="109728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64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5544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4FF64"/>
                </a:solidFill>
              </a:defRPr>
            </a:pPr>
            <a:r>
              <a:t>3,100 m²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0574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總樓地板面積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2651760"/>
            <a:ext cx="2560320" cy="109728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28346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</a:defRPr>
            </a:pPr>
            <a:r>
              <a:t>140-180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3375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每日服務人次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FF88"/>
                </a:solidFill>
              </a:defRPr>
            </a:pPr>
            <a:r>
              <a:t>⚡ 6 大技術創新（全台首創）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914400"/>
          </a:xfrm>
          <a:prstGeom prst="roundRect">
            <a:avLst/>
          </a:prstGeom>
          <a:solidFill>
            <a:srgbClr val="141932"/>
          </a:solidFill>
          <a:ln w="381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88"/>
                </a:solidFill>
              </a:defRPr>
            </a:pPr>
            <a:r>
              <a:t>1. 垂直隔音設計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4F 籃球場 ≠ 干擾 1F 失智專區 (50dB 隔音)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188720"/>
            <a:ext cx="4114800" cy="914400"/>
          </a:xfrm>
          <a:prstGeom prst="roundRect">
            <a:avLst/>
          </a:prstGeom>
          <a:solidFill>
            <a:srgbClr val="141932"/>
          </a:solidFill>
          <a:ln w="381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2588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CFF"/>
                </a:solidFill>
              </a:defRPr>
            </a:pPr>
            <a:r>
              <a:t>2. 時間錯峰服務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642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120 座位餐廳 → 150 人/日使用 (125% 效率)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4114800" cy="914400"/>
          </a:xfrm>
          <a:prstGeom prst="roundRect">
            <a:avLst/>
          </a:prstGeom>
          <a:solidFill>
            <a:srgbClr val="141932"/>
          </a:solidFill>
          <a:ln w="381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39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3. AI 記憶重生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15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失智長輩生命故事 AI 重現 (MMSE +2.8 分)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240280"/>
            <a:ext cx="4114800" cy="914400"/>
          </a:xfrm>
          <a:prstGeom prst="roundRect">
            <a:avLst/>
          </a:prstGeom>
          <a:solidFill>
            <a:srgbClr val="141932"/>
          </a:solidFill>
          <a:ln w="381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377439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464"/>
                </a:solidFill>
              </a:defRPr>
            </a:pPr>
            <a:r>
              <a:t>4. 預測性健康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157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72% 準確率預測 7 日內生病風險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39"/>
            <a:ext cx="4114800" cy="914400"/>
          </a:xfrm>
          <a:prstGeom prst="roundRect">
            <a:avLst/>
          </a:prstGeom>
          <a:solidFill>
            <a:srgbClr val="141932"/>
          </a:solidFill>
          <a:ln w="38100">
            <a:solidFill>
              <a:srgbClr val="FF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4FF"/>
                </a:solidFill>
              </a:defRPr>
            </a:pPr>
            <a:r>
              <a:t>5. SIDS 監測系統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673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98% 靈敏度嬰兒猝死預防 (50 床即時監控)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291839"/>
            <a:ext cx="4114800" cy="914400"/>
          </a:xfrm>
          <a:prstGeom prst="roundRect">
            <a:avLst/>
          </a:prstGeom>
          <a:solidFill>
            <a:srgbClr val="141932"/>
          </a:solidFill>
          <a:ln w="38100">
            <a:solidFill>
              <a:srgbClr val="64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42900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FF64"/>
                </a:solidFill>
              </a:defRPr>
            </a:pPr>
            <a:r>
              <a:t>6. 時間銀行自動化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7673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志工配對 2 天 → 15 分鐘 (92% 成功率)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AA00"/>
                </a:solidFill>
              </a:defRPr>
            </a:pPr>
            <a:r>
              <a:t>🤝 政策創新：從「政府供給」到「社區共創」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743200" cy="32004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FF88"/>
                </a:solidFill>
              </a:defRPr>
            </a:pPr>
            <a:r>
              <a:t>ESG 企業整合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台積電 + 聯發科投入 2.85 億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員工福利 ROI 回報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企業永續報告書亮點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2743200" cy="32004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CCFF"/>
                </a:solidFill>
              </a:defRPr>
            </a:pPr>
            <a:r>
              <a:t>時間銀行制度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年交易量 3,000-8,000 筆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等值服務 120 萬元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參與率 68% (勝過現金)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2743200" cy="32004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🗳️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AA00"/>
                </a:solidFill>
              </a:defRPr>
            </a:pPr>
            <a:r>
              <a:t>參與式預算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25% 營運預算 (250 萬)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社區居民投票決定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每季大會民主治理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64FF64"/>
                </a:solidFill>
              </a:defRPr>
            </a:pPr>
            <a:r>
              <a:t>💰 財務模式：3 年自給自足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737360" cy="45720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A0E27"/>
                </a:solidFill>
              </a:defRPr>
            </a:pPr>
            <a:r>
              <a:t>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280160"/>
            <a:ext cx="1737360" cy="45720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2801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A0E27"/>
                </a:solidFill>
              </a:defRPr>
            </a:pPr>
            <a:r>
              <a:t>Y1 (2029)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280160"/>
            <a:ext cx="1737360" cy="45720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2801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A0E27"/>
                </a:solidFill>
              </a:defRPr>
            </a:pPr>
            <a:r>
              <a:t>Y2 (2030)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79" y="1280160"/>
            <a:ext cx="1737360" cy="45720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79" y="12801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A0E27"/>
                </a:solidFill>
              </a:defRPr>
            </a:pPr>
            <a:r>
              <a:t>Y3 (2031)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280160"/>
            <a:ext cx="1737360" cy="45720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2801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A0E27"/>
                </a:solidFill>
              </a:defRPr>
            </a:pPr>
            <a:r>
              <a:t>Y5 (2033)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37360"/>
            <a:ext cx="1737360" cy="45720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7373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A0E27"/>
                </a:solidFill>
              </a:defRPr>
            </a:pPr>
            <a:r>
              <a:t>營運成本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7373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17373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2,328萬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7373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17373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2,200萬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79" y="17373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79" y="17373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1,940萬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17373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7373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2,010萬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194560"/>
            <a:ext cx="1737360" cy="45720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1945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A0E27"/>
                </a:solidFill>
              </a:defRPr>
            </a:pPr>
            <a:r>
              <a:t>自籌收入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21945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21945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1,850萬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1945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21945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2,750萬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79" y="21945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79" y="21945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3,025萬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21945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21945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3,200萬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651760"/>
            <a:ext cx="1737360" cy="45720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6517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A0E27"/>
                </a:solidFill>
              </a:defRPr>
            </a:pPr>
            <a:r>
              <a:t>政府補助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26517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26517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975萬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26517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26517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150萬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79" y="26517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79" y="26517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26517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26517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0萬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108960"/>
            <a:ext cx="1737360" cy="45720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1089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A0E27"/>
                </a:solidFill>
              </a:defRPr>
            </a:pPr>
            <a:r>
              <a:t>盈餘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94560" y="31089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31089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+497萬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0" y="31089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0" y="31089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+700萬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79" y="31089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79" y="31089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+1,085萬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3108960"/>
            <a:ext cx="1737360" cy="457200"/>
          </a:xfrm>
          <a:prstGeom prst="rect">
            <a:avLst/>
          </a:prstGeom>
          <a:solidFill>
            <a:srgbClr val="141932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0" y="310896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+1,190萬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4FF64"/>
                </a:solidFill>
              </a:defRPr>
            </a:pPr>
            <a:r>
              <a:t>🎯 政府節省：15 年共省 8.11 億元 (vs 傳統分散模式)</a:t>
            </a:r>
          </a:p>
          <a:p>
            <a:pPr algn="ctr">
              <a:defRPr sz="1600" b="1">
                <a:solidFill>
                  <a:srgbClr val="64FF64"/>
                </a:solidFill>
              </a:defRPr>
            </a:pPr>
            <a:r>
              <a:t>💡 自給率：Year 3 達 156%，Year 5 達 159%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FF88"/>
                </a:solidFill>
              </a:defRPr>
            </a:pPr>
            <a:r>
              <a:t>👨‍👩‍👧‍👦 跨代影響：老中青三贏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743200" cy="2926080"/>
          </a:xfrm>
          <a:prstGeom prst="roundRect">
            <a:avLst/>
          </a:prstGeom>
          <a:solidFill>
            <a:srgbClr val="141932"/>
          </a:solidFill>
          <a:ln w="381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</a:defRPr>
            </a:pPr>
            <a:r>
              <a:t>1F 長輩 (65+)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MMSE 認知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</a:defRPr>
            </a:pPr>
            <a:r>
              <a:t>+2.8 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(延緩失智)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焦慮降低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</a:defRPr>
            </a:pPr>
            <a:r>
              <a:t>-40%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9272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(心理健康)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社交孤立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</a:defRPr>
            </a:pPr>
            <a:r>
              <a:t>-51%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96511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(參與活動)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280160"/>
            <a:ext cx="2743200" cy="2926080"/>
          </a:xfrm>
          <a:prstGeom prst="roundRect">
            <a:avLst/>
          </a:prstGeom>
          <a:solidFill>
            <a:srgbClr val="141932"/>
          </a:solidFill>
          <a:ln w="381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4630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CCFF"/>
                </a:solidFill>
              </a:defRPr>
            </a:pPr>
            <a:r>
              <a:t>2F 幼兒 (0-2 歲)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01168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語言發展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402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CFF"/>
                </a:solidFill>
              </a:defRPr>
            </a:pPr>
            <a:r>
              <a:t>+18%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542032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(跨代刺激)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7889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安全保障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0175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CFF"/>
                </a:solidFill>
              </a:defRPr>
            </a:pPr>
            <a:r>
              <a:t>98%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319272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(SIDS 監測)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566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社區歸屬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7947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CFF"/>
                </a:solidFill>
              </a:defRPr>
            </a:pPr>
            <a:r>
              <a:t>8.2/10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096511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(溫暖環境)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280160"/>
            <a:ext cx="2743200" cy="2926080"/>
          </a:xfrm>
          <a:prstGeom prst="roundRect">
            <a:avLst/>
          </a:prstGeom>
          <a:solidFill>
            <a:srgbClr val="141932"/>
          </a:solidFill>
          <a:ln w="381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4630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AA00"/>
                </a:solidFill>
              </a:defRPr>
            </a:pPr>
            <a:r>
              <a:t>4F 青少年 (13-18)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01168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職涯探索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2402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AA00"/>
                </a:solidFill>
              </a:defRPr>
            </a:pPr>
            <a:r>
              <a:t>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542032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(創客空間)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7889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領導能力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0175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AA00"/>
                </a:solidFill>
              </a:defRPr>
            </a:pPr>
            <a:r>
              <a:t>志工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319272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(服務學習)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566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同理心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7947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AA00"/>
                </a:solidFill>
              </a:defRPr>
            </a:pPr>
            <a:r>
              <a:t>+35%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096511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4B4B4"/>
                </a:solidFill>
              </a:defRPr>
            </a:pPr>
            <a:r>
              <a:t>(長輩互動)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6464"/>
                </a:solidFill>
              </a:defRPr>
            </a:pPr>
            <a:r>
              <a:t>⏰ 黃金窗口：現在就是最佳時機！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365760" cy="365760"/>
          </a:xfrm>
          <a:prstGeom prst="ellipse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FF6464"/>
                </a:solidFill>
              </a:defRPr>
            </a:pPr>
            <a:r>
              <a:t>2025/10/30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標案開標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B4B4B4"/>
                </a:solidFill>
              </a:defRPr>
            </a:pPr>
            <a:r>
              <a:t>設計廠商確定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64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64FF64"/>
                </a:solidFill>
              </a:defRPr>
            </a:pPr>
            <a:r>
              <a:t>2025/11-12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初步設計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B4B4B4"/>
                </a:solidFill>
              </a:defRPr>
            </a:pPr>
            <a:r>
              <a:t>功能 100% 可調整 ✅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017520"/>
            <a:ext cx="365760" cy="365760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01752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FFAA00"/>
                </a:solidFill>
              </a:defRPr>
            </a:pPr>
            <a:r>
              <a:t>2026/01-03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1752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細部設計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01752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B4B4B4"/>
                </a:solidFill>
              </a:defRPr>
            </a:pPr>
            <a:r>
              <a:t>調整難度 ⚠️ (10%)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840480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84048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646464"/>
                </a:solidFill>
              </a:defRPr>
            </a:pPr>
            <a:r>
              <a:t>2026/05+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84048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施工階段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4048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B4B4B4"/>
                </a:solidFill>
              </a:defRPr>
            </a:pPr>
            <a:r>
              <a:t>改變成本 +50-100% 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89120"/>
            <a:ext cx="7315200" cy="548640"/>
          </a:xfrm>
          <a:prstGeom prst="round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A0E27"/>
                </a:solidFill>
              </a:defRPr>
            </a:pPr>
            <a:r>
              <a:t>🔥 贏得黑客松 = 影響政策設計 = 改變 2.3 億建築未來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FF88"/>
                </a:solidFill>
              </a:defRPr>
            </a:pPr>
            <a:r>
              <a:t>🌟 從「政府供給」到「社區共創」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👵 長輩找回生命故事 (AI 記憶重生)</a:t>
            </a:r>
          </a:p>
          <a:p>
            <a:pPr algn="l"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👨‍👩‍👧 父母找回家庭時間 (30 分 vs 2 小時)</a:t>
            </a:r>
          </a:p>
          <a:p>
            <a:pPr algn="l"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👶 孩子找回社區溫暖 (跨代共學)</a:t>
            </a:r>
          </a:p>
          <a:p>
            <a:pPr algn="l"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🏛️ 政府找回財政責任 (Year 3 自給)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高門檻 + 政策對接 + 普世共鳴 + 可落地 = 🏆 奪冠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CCFF"/>
                </a:solidFill>
              </a:defRPr>
            </a:pPr>
            <a:r>
              <a:t>選擇赤土崎 — 讓台灣引領亞洲社福轉型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