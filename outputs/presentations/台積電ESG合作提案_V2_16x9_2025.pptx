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竹科家庭照護時數銀行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64B5F6"/>
                </a:solidFill>
              </a:defRPr>
            </a:pPr>
            <a:r>
              <a:t>投資 500 萬，創造 1,020 萬社會價值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台積電慈善基金會 × 新竹市政府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2025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簡報大綱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10512"/>
            <a:ext cx="457200" cy="45720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台積電面臨的挑戰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031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人才留任 × 招募困難 × ESG落後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6289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2679192"/>
            <a:ext cx="457200" cy="45720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51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赤土崎解決方案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71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一站式整合服務模式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10362895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20" y="3547872"/>
            <a:ext cx="457200" cy="45720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20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投資效益分析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SROI 1:2.04 社會價值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51960"/>
            <a:ext cx="1036289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4416552"/>
            <a:ext cx="457200" cy="45720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891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合作方案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3年投資計畫與回報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120640"/>
            <a:ext cx="10362895" cy="777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285232"/>
            <a:ext cx="457200" cy="457200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257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立即行動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778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11/15前決策窗口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台積電面臨的三大人才挑戰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員工家庭壓力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3832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E30613"/>
                </a:solidFill>
              </a:defRPr>
            </a:pPr>
            <a:r>
              <a:t>54.5%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114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時間貧窮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離職成本</a:t>
            </a:r>
          </a:p>
          <a:p>
            <a:r>
              <a:t>30萬/人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8288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0116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招募吸引力不足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3832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E30613"/>
                </a:solidFill>
              </a:defRPr>
            </a:pPr>
            <a:r>
              <a:t>-10%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114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Offer接受率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人才外流</a:t>
            </a:r>
          </a:p>
          <a:p>
            <a:r>
              <a:t>竹科 vs 矽谷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200400" cy="36576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ESG評級落後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832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E30613"/>
                </a:solidFill>
              </a:defRPr>
            </a:pPr>
            <a:r>
              <a:t>BBB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114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MSCI評級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24242"/>
                </a:solidFill>
              </a:defRPr>
            </a:pPr>
            <a:r>
              <a:t>融資成本↑</a:t>
            </a:r>
          </a:p>
          <a:p>
            <a:r>
              <a:t>產業平均A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30613"/>
                </a:solidFill>
              </a:defRPr>
            </a:pPr>
            <a:r>
              <a:t>➜  年度隱形成本：離職損失 1.2 億 + 招募成本 8,000 萬 + ESG 融資成本增加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挑戰 1：員工家庭照顧壓力 → 離職率上升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1800"/>
            </a:pPr>
            <a:r>
              <a:t>👴 長輩照顧（65+）</a:t>
            </a:r>
          </a:p>
          <a:p>
            <a:pPr algn="ctr">
              <a:spcBef>
                <a:spcPts val="800"/>
              </a:spcBef>
              <a:defRPr sz="1800"/>
            </a:pPr>
            <a:r>
              <a:t>需要日照、失智照護</a:t>
            </a:r>
          </a:p>
          <a:p>
            <a:pPr algn="ctr">
              <a:spcBef>
                <a:spcPts val="800"/>
              </a:spcBef>
              <a:defRPr sz="1800"/>
            </a:pPr>
          </a:p>
          <a:p>
            <a:pPr algn="ctr">
              <a:spcBef>
                <a:spcPts val="800"/>
              </a:spcBef>
              <a:defRPr sz="1800"/>
            </a:pPr>
            <a:r>
              <a:t>        ↕</a:t>
            </a:r>
          </a:p>
          <a:p>
            <a:pPr algn="ctr">
              <a:spcBef>
                <a:spcPts val="800"/>
              </a:spcBef>
              <a:defRPr sz="1800"/>
            </a:pPr>
          </a:p>
          <a:p>
            <a:pPr algn="ctr">
              <a:spcBef>
                <a:spcPts val="800"/>
              </a:spcBef>
              <a:defRPr sz="1800"/>
            </a:pPr>
            <a:r>
              <a:t>👨‍💼 竹科工程師（35歲）</a:t>
            </a:r>
          </a:p>
          <a:p>
            <a:pPr algn="ctr">
              <a:spcBef>
                <a:spcPts val="800"/>
              </a:spcBef>
              <a:defRPr sz="1800"/>
            </a:pPr>
            <a:r>
              <a:t>「三明治世代」壓力</a:t>
            </a:r>
          </a:p>
          <a:p>
            <a:pPr algn="ctr">
              <a:spcBef>
                <a:spcPts val="800"/>
              </a:spcBef>
              <a:defRPr sz="1800"/>
            </a:pPr>
          </a:p>
          <a:p>
            <a:pPr algn="ctr">
              <a:spcBef>
                <a:spcPts val="800"/>
              </a:spcBef>
              <a:defRPr sz="1800"/>
            </a:pPr>
            <a:r>
              <a:t>        ↕</a:t>
            </a:r>
          </a:p>
          <a:p>
            <a:pPr algn="ctr">
              <a:spcBef>
                <a:spcPts val="800"/>
              </a:spcBef>
              <a:defRPr sz="1800"/>
            </a:pPr>
          </a:p>
          <a:p>
            <a:pPr algn="ctr">
              <a:spcBef>
                <a:spcPts val="800"/>
              </a:spcBef>
              <a:defRPr sz="1800"/>
            </a:pPr>
            <a:r>
              <a:t>👶 幼兒照顧（0-2歲）</a:t>
            </a:r>
          </a:p>
          <a:p>
            <a:pPr algn="ctr">
              <a:spcBef>
                <a:spcPts val="800"/>
              </a:spcBef>
              <a:defRPr sz="1800"/>
            </a:pPr>
            <a:r>
              <a:t>需要托育、親職教育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30613"/>
                </a:solidFill>
              </a:defRPr>
            </a:pPr>
            <a:r>
              <a:t>54.5%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24242"/>
                </a:solidFill>
              </a:defRPr>
            </a:pPr>
            <a:r>
              <a:t>員工表示「時間貧窮」影響工作表現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47472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9800"/>
                </a:solidFill>
              </a:defRPr>
            </a:pPr>
            <a:r>
              <a:t>30 萬元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24242"/>
                </a:solidFill>
              </a:defRPr>
            </a:pPr>
            <a:r>
              <a:t>每位工程師離職成本（招募+訓練）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937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424242"/>
                </a:solidFill>
              </a:defRPr>
            </a:pPr>
            <a:r>
              <a:t>家庭照顧壓力  →  工作分心</a:t>
            </a:r>
          </a:p>
          <a:p>
            <a:pPr>
              <a:spcBef>
                <a:spcPts val="600"/>
              </a:spcBef>
              <a:defRPr sz="1800">
                <a:solidFill>
                  <a:srgbClr val="424242"/>
                </a:solidFill>
              </a:defRPr>
            </a:pPr>
            <a:r>
              <a:t>→  績效下降  →  選擇離職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挑戰 2：招募吸引力不足 → 人才外流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30613"/>
                </a:solidFill>
              </a:defRPr>
            </a:pPr>
            <a:r>
              <a:t>竹科（台積電）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矽谷（三星/Intel）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薪資水平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勝出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❌ 略低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生活成本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較低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❌ 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家庭支持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❌ 缺乏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完善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工作文化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⚠ 加班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彈性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24242"/>
                </a:solidFill>
              </a:defRPr>
            </a:pPr>
            <a:r>
              <a:t>職涯發展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846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穩定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46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24242"/>
                </a:solidFill>
              </a:defRPr>
            </a:pPr>
            <a:r>
              <a:t>✓ 多元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2000" b="1">
                <a:solidFill>
                  <a:srgbClr val="E30613"/>
                </a:solidFill>
              </a:defRPr>
            </a:pPr>
            <a:r>
              <a:t>⚠️  關鍵發現：「家庭支持」成為人才決策的關鍵因素</a:t>
            </a:r>
          </a:p>
          <a:p>
            <a:pPr algn="ctr">
              <a:spcBef>
                <a:spcPts val="400"/>
              </a:spcBef>
              <a:defRPr sz="2000" b="1">
                <a:solidFill>
                  <a:srgbClr val="E30613"/>
                </a:solidFill>
              </a:defRPr>
            </a:pPr>
            <a:r>
              <a:t>年輕世代更重視 Work-Life Balance，不只看薪資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挑戰 3：ESG 評級落後 → 融資成本增加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24242"/>
                </a:solidFill>
              </a:defRPr>
            </a:pPr>
            <a:r>
              <a:t>台積電當前</a:t>
            </a:r>
          </a:p>
          <a:p/>
          <a:p>
            <a:r>
              <a:t>MSCI ESG 評級</a:t>
            </a:r>
          </a:p>
          <a:p>
            <a:br/>
            <a:pPr algn="ctr">
              <a:defRPr sz="8000" b="1">
                <a:solidFill>
                  <a:srgbClr val="FF9800"/>
                </a:solidFill>
              </a:defRPr>
            </a:pPr>
            <a:r>
              <a:t>BBB</a:t>
            </a:r>
          </a:p>
          <a:p>
            <a:br/>
            <a:pPr algn="ctr">
              <a:defRPr sz="1800">
                <a:solidFill>
                  <a:srgbClr val="424242"/>
                </a:solidFill>
              </a:defRPr>
            </a:pPr>
            <a:r>
              <a:t>產業平均: 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943600" y="3200400"/>
            <a:ext cx="1371600" cy="73152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201168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24242"/>
                </a:solidFill>
              </a:defRPr>
            </a:pPr>
            <a:r>
              <a:t>改善目標</a:t>
            </a:r>
          </a:p>
          <a:p/>
          <a:p>
            <a:r>
              <a:t>MSCI ESG 評級</a:t>
            </a:r>
          </a:p>
          <a:p>
            <a:br/>
            <a:pPr algn="ctr">
              <a:defRPr sz="9600" b="1">
                <a:solidFill>
                  <a:srgbClr val="4CAF50"/>
                </a:solidFill>
              </a:defRPr>
            </a:pPr>
            <a:r>
              <a:t>A</a:t>
            </a:r>
          </a:p>
          <a:p>
            <a:br/>
            <a:pPr algn="ctr">
              <a:defRPr sz="1800">
                <a:solidFill>
                  <a:srgbClr val="424242"/>
                </a:solidFill>
              </a:defRPr>
            </a:pPr>
            <a:r>
              <a:t>提升 1 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2000" b="1">
                <a:solidFill>
                  <a:srgbClr val="4CAF50"/>
                </a:solidFill>
              </a:defRPr>
            </a:pPr>
            <a:r>
              <a:t>💰 效益計算</a:t>
            </a: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ESG 評級每提升 1 級 → 融資成本降低 0.5%</a:t>
            </a: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台積電年度融資規模 3,000 億 → 每年節省 15 億元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解決方案：竹科家庭照護時數銀行</a:t>
            </a:r>
          </a:p>
        </p:txBody>
      </p:sp>
      <p:sp>
        <p:nvSpPr>
          <p:cNvPr id="3" name="Oval 2"/>
          <p:cNvSpPr/>
          <p:nvPr/>
        </p:nvSpPr>
        <p:spPr>
          <a:xfrm>
            <a:off x="5029200" y="3200400"/>
            <a:ext cx="2286000" cy="2286000"/>
          </a:xfrm>
          <a:prstGeom prst="ellipse">
            <a:avLst/>
          </a:prstGeom>
          <a:solidFill>
            <a:srgbClr val="4CAF50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赤土崎</a:t>
            </a:r>
          </a:p>
          <a:p>
            <a:r>
              <a:t>全齡樞紐</a:t>
            </a:r>
          </a:p>
          <a:p/>
          <a:p>
            <a:r>
              <a:t>10,000</a:t>
            </a:r>
          </a:p>
          <a:p>
            <a:r>
              <a:t>小時/年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109728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① 台積電投資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500萬元/年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00400" cy="109728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② 員工憑證兌換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2,140人次/年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5303520"/>
            <a:ext cx="576072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③ 台積電獲得：留任率+5% | ESG評級↑ | SROI 1:2.04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投資效益：每投入 1 元，創造 2.04 元社會價值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2743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投資</a:t>
            </a:r>
          </a:p>
          <a:p>
            <a:pPr algn="ctr">
              <a:defRPr sz="5200" b="1">
                <a:solidFill>
                  <a:srgbClr val="E30613"/>
                </a:solidFill>
              </a:defRPr>
            </a:pPr>
          </a:p>
          <a:p>
            <a:r>
              <a:t>500 萬元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560320"/>
            <a:ext cx="7315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4CAF50"/>
                </a:solidFill>
              </a:defRPr>
            </a:pPr>
            <a:r>
              <a:t>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286000"/>
            <a:ext cx="22860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SROI</a:t>
            </a:r>
          </a:p>
          <a:p>
            <a:pPr algn="ctr">
              <a:defRPr sz="6400" b="1">
                <a:solidFill>
                  <a:srgbClr val="4CAF50"/>
                </a:solidFill>
              </a:defRPr>
            </a:pPr>
          </a:p>
          <a:p>
            <a:r>
              <a:t>2.04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560320"/>
            <a:ext cx="7315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7200" b="1">
                <a:solidFill>
                  <a:srgbClr val="424242"/>
                </a:solidFill>
              </a:defRPr>
            </a:pPr>
            <a:r>
              <a:t>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286000"/>
            <a:ext cx="27432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社會價值</a:t>
            </a:r>
          </a:p>
          <a:p>
            <a:pPr algn="ctr">
              <a:defRPr sz="5200" b="1">
                <a:solidFill>
                  <a:srgbClr val="4CAF50"/>
                </a:solidFill>
              </a:defRPr>
            </a:pPr>
          </a:p>
          <a:p>
            <a:r>
              <a:t>1,020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📊 計算標準</a:t>
            </a:r>
          </a:p>
          <a:p>
            <a:pPr algn="ctr"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</a:p>
          <a:p>
            <a:pPr algn="ctr"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依據「台灣社會影響力研究院」SROI 認證標準</a:t>
            </a:r>
          </a:p>
          <a:p>
            <a:pPr algn="ctr"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評估期間：5年期，折現率 3.5%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赤土崎全齡社福樞紐 - 一站式整合服務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645920"/>
            <a:ext cx="7772400" cy="777240"/>
          </a:xfrm>
          <a:prstGeom prst="rect">
            <a:avLst/>
          </a:prstGeom>
          <a:solidFill>
            <a:srgbClr val="64B5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178308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78308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青少年 STEAM 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8308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500m²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8308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120人次/月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423160"/>
            <a:ext cx="7772400" cy="777240"/>
          </a:xfrm>
          <a:prstGeom prst="rect">
            <a:avLst/>
          </a:prstGeom>
          <a:solidFill>
            <a:srgbClr val="FFD54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56032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家庭支持中心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500m²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6032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80家庭/月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200400"/>
            <a:ext cx="7772400" cy="777240"/>
          </a:xfrm>
          <a:prstGeom prst="rect">
            <a:avLst/>
          </a:prstGeom>
          <a:solidFill>
            <a:srgbClr val="FFB74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33756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3756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公共托嬰中心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756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700m²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33756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45人（台積優先）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977640"/>
            <a:ext cx="7772400" cy="777240"/>
          </a:xfrm>
          <a:prstGeom prst="rect">
            <a:avLst/>
          </a:prstGeom>
          <a:solidFill>
            <a:srgbClr val="9575C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11480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1480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長照日照中心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800m²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1480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55人（台積優先）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754880"/>
            <a:ext cx="7772400" cy="777240"/>
          </a:xfrm>
          <a:prstGeom prst="rect">
            <a:avLst/>
          </a:prstGeom>
          <a:solidFill>
            <a:srgbClr val="42424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89204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t>B1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89204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5F5F5"/>
                </a:solidFill>
              </a:defRPr>
            </a:pPr>
            <a:r>
              <a:t>停車場+設備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9204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600m²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892040"/>
            <a:ext cx="2103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600">
                <a:solidFill>
                  <a:srgbClr val="F5F5F5"/>
                </a:solidFill>
              </a:defRPr>
            </a:pPr>
            <a:r>
              <a:t>30車位（台積保留10）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總建築面積：3,100m² | 地上4層+地下1層 | 距離竹科 2.5km（車程5分鐘）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台積電投資方案 - 三年期合作計畫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3017520" cy="25603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30613"/>
                </a:solidFill>
              </a:defRPr>
            </a:pPr>
            <a:r>
              <a:t>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1089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500萬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931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24242"/>
                </a:solidFill>
              </a:defRPr>
            </a:pPr>
            <a:r>
              <a:t>設計階段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286000"/>
            <a:ext cx="3017520" cy="25603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30613"/>
                </a:solidFill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089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500萬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931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24242"/>
                </a:solidFill>
              </a:defRPr>
            </a:pPr>
            <a:r>
              <a:t>建設階段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86000"/>
            <a:ext cx="3017520" cy="25603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30613"/>
                </a:solidFill>
              </a:defRPr>
            </a:pPr>
            <a: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1089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500萬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9319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24242"/>
                </a:solidFill>
              </a:defRPr>
            </a:pPr>
            <a:r>
              <a:t>營運階段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120640"/>
            <a:ext cx="5760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000" b="1">
                <a:solidFill>
                  <a:srgbClr val="4CAF50"/>
                </a:solidFill>
              </a:defRPr>
            </a:pPr>
            <a:r>
              <a:t>3 年總投資：1,500 萬元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我們需要台積電的決定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011680"/>
            <a:ext cx="7589520" cy="2286000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667512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請在 11/15 前決定</a:t>
            </a:r>
          </a:p>
          <a:p>
            <a:pPr algn="ctr">
              <a:spcBef>
                <a:spcPts val="1000"/>
              </a:spcBef>
              <a:defRPr sz="2400">
                <a:solidFill>
                  <a:srgbClr val="FFFFFF"/>
                </a:solidFill>
              </a:defRPr>
            </a:pPr>
          </a:p>
          <a:p>
            <a:pPr algn="ctr">
              <a:spcBef>
                <a:spcPts val="1000"/>
              </a:spcBef>
              <a:defRPr sz="2400">
                <a:solidFill>
                  <a:srgbClr val="FFFFFF"/>
                </a:solidFill>
              </a:defRPr>
            </a:pPr>
            <a:r>
              <a:t>是否參與「竹科家庭照護時數銀行」</a:t>
            </a:r>
          </a:p>
          <a:p>
            <a:pPr algn="ctr">
              <a:spcBef>
                <a:spcPts val="1000"/>
              </a:spcBef>
              <a:defRPr sz="2400">
                <a:solidFill>
                  <a:srgbClr val="FFFFFF"/>
                </a:solidFill>
              </a:defRPr>
            </a:pPr>
            <a:r>
              <a:t>投資額度：500萬/年 × 3年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9800"/>
                </a:solidFill>
              </a:defRPr>
            </a:pPr>
            <a:r>
              <a:t>⏰ 黃金窗口：10/30 標案開標後，11/8-11/28 設計階段</a:t>
            </a: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這是納入「台積電專區」的最後機會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📞 專案顧問：Easterlin Hsinchu Team</a:t>
            </a:r>
          </a:p>
          <a:p>
            <a:pPr algn="ctr">
              <a:spcBef>
                <a:spcPts val="400"/>
              </a:spcBef>
              <a:defRPr sz="1800">
                <a:solidFill>
                  <a:srgbClr val="424242"/>
                </a:solidFill>
              </a:defRPr>
            </a:pPr>
            <a:r>
              <a:t>🏛️ 新竹市政府社會處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