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竹科家庭照護時數銀行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台積電 × 新竹市政府 ESG 策略合作提案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2025 年 10 月</a:t>
            </a:r>
          </a:p>
          <a:p>
            <a:r>
              <a:t>報告人：蔡秀吉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[台積電慈善基金會 Logo]     [新竹市政府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台積電人才留任的三大隱形成本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挑戰 1: 員工家庭照顧壓力 → 離職率上升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竹科工程師平均年齡 35 歲，正值「三明治世代」</a:t>
            </a:r>
          </a:p>
          <a:p>
            <a:pPr>
              <a:spcBef>
                <a:spcPts val="600"/>
              </a:spcBef>
              <a:defRPr sz="1600"/>
            </a:pPr>
            <a:r>
              <a:t>• 需同時照顧幼兒（0-2歲）+ 長輩（65+）</a:t>
            </a:r>
          </a:p>
          <a:p>
            <a:pPr>
              <a:spcBef>
                <a:spcPts val="600"/>
              </a:spcBef>
              <a:defRPr sz="1600"/>
            </a:pPr>
            <a:r>
              <a:t>• 54.5% 員工表示「時間貧窮」影響工作表現</a:t>
            </a:r>
          </a:p>
          <a:p>
            <a:pPr>
              <a:spcBef>
                <a:spcPts val="600"/>
              </a:spcBef>
              <a:defRPr sz="1600"/>
            </a:pPr>
            <a:r>
              <a:t>• 每位工程師離職成本：300,000 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挑戰 2: 招募吸引力不足 → 人才外流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竹科 vs 矽谷：薪資勝出，生活品質落後</a:t>
            </a:r>
          </a:p>
          <a:p>
            <a:pPr>
              <a:spcBef>
                <a:spcPts val="600"/>
              </a:spcBef>
              <a:defRPr sz="1600"/>
            </a:pPr>
            <a:r>
              <a:t>• 「年薪 300 萬卻是人生貧戶」成為社群熱議</a:t>
            </a:r>
          </a:p>
          <a:p>
            <a:pPr>
              <a:spcBef>
                <a:spcPts val="600"/>
              </a:spcBef>
              <a:defRPr sz="1600"/>
            </a:pPr>
            <a:r>
              <a:t>• 缺乏家庭友善配套，影響 offer 接受率</a:t>
            </a:r>
          </a:p>
          <a:p>
            <a:pPr>
              <a:spcBef>
                <a:spcPts val="600"/>
              </a:spcBef>
              <a:defRPr sz="1600"/>
            </a:pPr>
            <a:r>
              <a:t>• 競爭對手（三星、Intel）家庭福利更完善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挑戰 3: ESG 評分難以提升 → 融資成本增加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• MSCI ESG 評級：台積電 BBB（產業平均 A）</a:t>
            </a:r>
          </a:p>
          <a:p>
            <a:pPr>
              <a:spcBef>
                <a:spcPts val="600"/>
              </a:spcBef>
              <a:defRPr sz="1600"/>
            </a:pPr>
            <a:r>
              <a:t>• S（社會）面向得分偏低，缺乏在地社會影響力</a:t>
            </a:r>
          </a:p>
          <a:p>
            <a:pPr>
              <a:spcBef>
                <a:spcPts val="600"/>
              </a:spcBef>
              <a:defRPr sz="1600"/>
            </a:pPr>
            <a:r>
              <a:t>• 國際投資人要求「可量化」的社會貢獻</a:t>
            </a:r>
          </a:p>
          <a:p>
            <a:pPr>
              <a:spcBef>
                <a:spcPts val="600"/>
              </a:spcBef>
              <a:defRPr sz="1600"/>
            </a:pPr>
            <a:r>
              <a:t>• ESG 評級每提升 1 級，融資成本降低 0.5%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台積電 ESG 投資的「三大找不到」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</a:defRPr>
            </a:pPr>
            <a:r>
              <a:t>痛點 1: 找不到「在地性」夠強的專案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現況：多數 ESG 投資在偏鄉、離島</a:t>
            </a:r>
          </a:p>
          <a:p>
            <a:pPr>
              <a:spcBef>
                <a:spcPts val="400"/>
              </a:spcBef>
              <a:defRPr sz="1400"/>
            </a:pPr>
            <a:r>
              <a:t>       → 竹科員工感受不到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需求：希望投資「員工看得見」的專案</a:t>
            </a:r>
          </a:p>
          <a:p>
            <a:pPr>
              <a:spcBef>
                <a:spcPts val="400"/>
              </a:spcBef>
              <a:defRPr sz="1400"/>
            </a:pPr>
            <a:r>
              <a:t>       → 走路 10 分鐘就能使用的服務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</a:defRPr>
            </a:pPr>
            <a:r>
              <a:t>痛點 2: 找不到「可量化」的社會影響力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現況：慈善捐款缺乏 SROI 評估</a:t>
            </a:r>
          </a:p>
          <a:p>
            <a:pPr>
              <a:spcBef>
                <a:spcPts val="400"/>
              </a:spcBef>
              <a:defRPr sz="1400"/>
            </a:pPr>
            <a:r>
              <a:t>       → 無法對投資人說明價值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需求：希望有嚴格的 SROI 計算報告</a:t>
            </a:r>
          </a:p>
          <a:p>
            <a:pPr>
              <a:spcBef>
                <a:spcPts val="400"/>
              </a:spcBef>
              <a:defRPr sz="1400"/>
            </a:pPr>
            <a:r>
              <a:t>       → 每 1 元創造多少社會價值？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</a:defRPr>
            </a:pPr>
            <a:r>
              <a:t>痛點 3: 找不到「員工參與」的機制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現況：員工只能「捐錢」，無法「參與」</a:t>
            </a:r>
          </a:p>
          <a:p>
            <a:pPr>
              <a:spcBef>
                <a:spcPts val="400"/>
              </a:spcBef>
              <a:defRPr sz="1400"/>
            </a:pPr>
            <a:r>
              <a:t>       → ESG 成為財務部門的事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需求：希望員工能當志工、導師</a:t>
            </a:r>
          </a:p>
          <a:p>
            <a:pPr>
              <a:spcBef>
                <a:spcPts val="400"/>
              </a:spcBef>
              <a:defRPr sz="1400"/>
            </a:pPr>
            <a:r>
              <a:t>       → 增強企業認同感、團隊凝聚力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竹科家庭照護時數銀行 - 運作機制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097280"/>
            <a:ext cx="5486400" cy="731520"/>
          </a:xfrm>
          <a:prstGeom prst="rect">
            <a:avLst/>
          </a:prstGeom>
          <a:solidFill>
            <a:srgbClr val="E306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台積電購買 10,000 小時/年</a:t>
            </a:r>
          </a:p>
          <a:p>
            <a:r>
              <a:t>500元/小時 = 5,000,000 元</a:t>
            </a:r>
          </a:p>
        </p:txBody>
      </p:sp>
      <p:sp>
        <p:nvSpPr>
          <p:cNvPr id="4" name="Down Arrow 3"/>
          <p:cNvSpPr/>
          <p:nvPr/>
        </p:nvSpPr>
        <p:spPr>
          <a:xfrm>
            <a:off x="4297680" y="1920240"/>
            <a:ext cx="548640" cy="457200"/>
          </a:xfrm>
          <a:prstGeom prst="downArrow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6400800" cy="1371600"/>
          </a:xfrm>
          <a:prstGeom prst="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赤土崎全齡社福樞紐 - 服務時數池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長照日照 | 公共托育 | 家庭諮商 | 青少年活動</a:t>
            </a:r>
          </a:p>
        </p:txBody>
      </p:sp>
      <p:sp>
        <p:nvSpPr>
          <p:cNvPr id="6" name="Down Arrow 5"/>
          <p:cNvSpPr/>
          <p:nvPr/>
        </p:nvSpPr>
        <p:spPr>
          <a:xfrm>
            <a:off x="4297680" y="4023360"/>
            <a:ext cx="548640" cy="457200"/>
          </a:xfrm>
          <a:prstGeom prst="downArrow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663440"/>
            <a:ext cx="5486400" cy="731520"/>
          </a:xfrm>
          <a:prstGeom prst="rect">
            <a:avLst/>
          </a:prstGeom>
          <a:solidFill>
            <a:srgbClr val="1F4E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台積電員工憑「員工證」兌換服務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年度總服務：約 2,140 人次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97680" y="5486400"/>
            <a:ext cx="548640" cy="365760"/>
          </a:xfrm>
          <a:prstGeom prst="downArrow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台積電獲得三重回報</a:t>
            </a:r>
          </a:p>
          <a:p>
            <a:pPr algn="ctr">
              <a:defRPr sz="1600" b="1">
                <a:solidFill>
                  <a:srgbClr val="27AE60"/>
                </a:solidFill>
              </a:defRPr>
            </a:pPr>
            <a:r>
              <a:t>✓ 員工留任率 +5%  ✓ ESG 評級提升  ✓ SROI 1:2.04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赤土崎全齡社福樞紐 - 一站式整合服務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7955279" cy="5212080"/>
          </a:xfrm>
          <a:prstGeom prst="rect">
            <a:avLst/>
          </a:prstGeom>
          <a:noFill/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🏢 赤土崎多功能館 - B1+4F, 3,100m²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4F 青少年中心 (500m²)</a:t>
            </a:r>
          </a:p>
          <a:p>
            <a:pPr>
              <a:spcBef>
                <a:spcPts val="800"/>
              </a:spcBef>
              <a:defRPr sz="1600"/>
            </a:pPr>
            <a:r>
              <a:t>   • STEAM 課程、職涯探索、課後輔導 → 120 人次/月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3F 家庭支持中心 (500m²)</a:t>
            </a:r>
          </a:p>
          <a:p>
            <a:pPr>
              <a:spcBef>
                <a:spcPts val="800"/>
              </a:spcBef>
              <a:defRPr sz="1600"/>
            </a:pPr>
            <a:r>
              <a:t>   • 家庭諮商、社區共餐、親職教育 → 80 家庭/月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2F 公共托嬰中心 (700m²)</a:t>
            </a:r>
          </a:p>
          <a:p>
            <a:pPr>
              <a:spcBef>
                <a:spcPts val="800"/>
              </a:spcBef>
              <a:defRPr sz="1600"/>
            </a:pPr>
            <a:r>
              <a:t>   • 0-2 歲托育、蒙特梭利教學 → 45 人（台積電優先）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1F 長照日照中心 (800m²)</a:t>
            </a:r>
          </a:p>
          <a:p>
            <a:pPr>
              <a:spcBef>
                <a:spcPts val="800"/>
              </a:spcBef>
              <a:defRPr sz="1600"/>
            </a:pPr>
            <a:r>
              <a:t>   • 失能長者日照、失智症專區 → 55 人（台積電優先）</a:t>
            </a:r>
          </a:p>
          <a:p>
            <a:pPr>
              <a:spcBef>
                <a:spcPts val="800"/>
              </a:spcBef>
              <a:defRPr sz="1600"/>
            </a:pPr>
          </a:p>
          <a:p>
            <a:pPr>
              <a:spcBef>
                <a:spcPts val="800"/>
              </a:spcBef>
              <a:defRPr sz="1600"/>
            </a:pPr>
            <a:r>
              <a:t>B1 停車場 + 設備層 (600m²)</a:t>
            </a:r>
          </a:p>
          <a:p>
            <a:pPr>
              <a:spcBef>
                <a:spcPts val="800"/>
              </a:spcBef>
              <a:defRPr sz="1600"/>
            </a:pPr>
            <a:r>
              <a:t>   • 30 個停車位（台積電保留 10 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台積電員工專屬福利包 - 五大服務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548640" y="1097280"/>
            <a:ext cx="365760" cy="365760"/>
          </a:xfrm>
          <a:prstGeom prst="triangle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長照日照服務</a:t>
            </a:r>
          </a:p>
          <a:p>
            <a:pPr>
              <a:spcBef>
                <a:spcPts val="200"/>
              </a:spcBef>
              <a:defRPr sz="1400"/>
            </a:pPr>
            <a:r>
              <a:t>• 優先預約、保留 10 床、專屬 LINE 群組</a:t>
            </a:r>
          </a:p>
          <a:p>
            <a:pPr>
              <a:spcBef>
                <a:spcPts val="200"/>
              </a:spcBef>
              <a:defRPr sz="1400"/>
            </a:pPr>
            <a:r>
              <a:t>• 價值：26,400元/月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548640" y="2103120"/>
            <a:ext cx="365760" cy="365760"/>
          </a:xfrm>
          <a:prstGeom prst="triangle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公共托育服務</a:t>
            </a:r>
          </a:p>
          <a:p>
            <a:pPr>
              <a:spcBef>
                <a:spcPts val="200"/>
              </a:spcBef>
              <a:defRPr sz="1400"/>
            </a:pPr>
            <a:r>
              <a:t>• 優先錄取、保留 15 名額、彈性收托時間</a:t>
            </a:r>
          </a:p>
          <a:p>
            <a:pPr>
              <a:spcBef>
                <a:spcPts val="200"/>
              </a:spcBef>
              <a:defRPr sz="1400"/>
            </a:pPr>
            <a:r>
              <a:t>• 價值：8,000元/月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48640" y="3108960"/>
            <a:ext cx="365760" cy="365760"/>
          </a:xfrm>
          <a:prstGeom prst="triangle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家庭諮商服務</a:t>
            </a:r>
          </a:p>
          <a:p>
            <a:pPr>
              <a:spcBef>
                <a:spcPts val="200"/>
              </a:spcBef>
              <a:defRPr sz="1400"/>
            </a:pPr>
            <a:r>
              <a:t>• 免費 10 次/年、夫妻/親子諮商、匿名保護</a:t>
            </a:r>
          </a:p>
          <a:p>
            <a:pPr>
              <a:spcBef>
                <a:spcPts val="200"/>
              </a:spcBef>
              <a:defRPr sz="1400"/>
            </a:pPr>
            <a:r>
              <a:t>• 價值：20,000元/年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548640" y="4114800"/>
            <a:ext cx="365760" cy="365760"/>
          </a:xfrm>
          <a:prstGeom prst="triangle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青少年 STEAM 課程</a:t>
            </a:r>
          </a:p>
          <a:p>
            <a:pPr>
              <a:spcBef>
                <a:spcPts val="200"/>
              </a:spcBef>
              <a:defRPr sz="1400"/>
            </a:pPr>
            <a:r>
              <a:t>• 子女免費、台積電工程師授課、參訪研發中心</a:t>
            </a:r>
          </a:p>
          <a:p>
            <a:pPr>
              <a:spcBef>
                <a:spcPts val="200"/>
              </a:spcBef>
              <a:defRPr sz="1400"/>
            </a:pPr>
            <a:r>
              <a:t>• 價值：36,000元/年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48640" y="5120640"/>
            <a:ext cx="365760" cy="365760"/>
          </a:xfrm>
          <a:prstGeom prst="triangle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400"/>
            </a:pPr>
            <a:r>
              <a:t>社區共餐 + 健康促進</a:t>
            </a:r>
          </a:p>
          <a:p>
            <a:pPr>
              <a:spcBef>
                <a:spcPts val="200"/>
              </a:spcBef>
              <a:defRPr sz="1400"/>
            </a:pPr>
            <a:r>
              <a:t>• 平價共餐、健康講座、志工時數累積</a:t>
            </a:r>
          </a:p>
          <a:p>
            <a:pPr>
              <a:spcBef>
                <a:spcPts val="200"/>
              </a:spcBef>
              <a:defRPr sz="1400"/>
            </a:pPr>
            <a:r>
              <a:t>• 價值：無價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台積電投資方案 - 三年期合作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年度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投資金額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第 1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5,000,000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設計階段參與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第 2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5,000,000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建設階段支持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第 3 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5,000,000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營運階段投資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3 年總計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15,000,000 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9260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💼 投資用途分配（年度）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/>
            </a:pPr>
            <a:r>
              <a:t>60%  購買服務時數 (3,000,000 元) → 員工憑證兌換服務</a:t>
            </a:r>
          </a:p>
          <a:p>
            <a:pPr>
              <a:spcBef>
                <a:spcPts val="600"/>
              </a:spcBef>
              <a:defRPr sz="1400"/>
            </a:pPr>
            <a:r>
              <a:t>20%  設備捐贈 (1,000,000 元) → 冠名「台積電愛心托育教室」</a:t>
            </a:r>
          </a:p>
          <a:p>
            <a:pPr>
              <a:spcBef>
                <a:spcPts val="600"/>
              </a:spcBef>
              <a:defRPr sz="1400"/>
            </a:pPr>
            <a:r>
              <a:t>10%  志工計畫支持 (500,000 元) → 交通費、培訓費、獎勵金</a:t>
            </a:r>
          </a:p>
          <a:p>
            <a:pPr>
              <a:spcBef>
                <a:spcPts val="600"/>
              </a:spcBef>
              <a:defRPr sz="1400"/>
            </a:pPr>
            <a:r>
              <a:t>10%  STEAM 教育基金 (500,000 元) → 獎學金、黑客松、設備升級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🎯 服務使用預估（年度）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• 長照日照：20 個家庭 × 12 月 = 240 家庭月</a:t>
            </a:r>
          </a:p>
          <a:p>
            <a:pPr>
              <a:spcBef>
                <a:spcPts val="400"/>
              </a:spcBef>
              <a:defRPr sz="1400"/>
            </a:pPr>
            <a:r>
              <a:t>• 公共托育：15 個家庭 × 12 月 = 180 家庭月</a:t>
            </a:r>
          </a:p>
          <a:p>
            <a:pPr>
              <a:spcBef>
                <a:spcPts val="400"/>
              </a:spcBef>
              <a:defRPr sz="1400"/>
            </a:pPr>
            <a:r>
              <a:t>• 家庭諮商：80 個家庭 × 10 次 = 800 人次</a:t>
            </a:r>
          </a:p>
          <a:p>
            <a:pPr>
              <a:spcBef>
                <a:spcPts val="400"/>
              </a:spcBef>
              <a:defRPr sz="1400"/>
            </a:pPr>
            <a:r>
              <a:t>• 青少年課程：60 人次/月 × 12 月 = 720 人次</a:t>
            </a:r>
          </a:p>
          <a:p>
            <a:pPr>
              <a:spcBef>
                <a:spcPts val="400"/>
              </a:spcBef>
              <a:defRPr sz="1400"/>
            </a:pPr>
            <a:r>
              <a:t>• 年度總服務：約 2,140 人次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400"/>
            </a:pPr>
            <a:r>
              <a:t>💰 單位成本：5,000,000 ÷ 2,140 = 2,336 元/人次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投資效益：每投入 1 元，創造 2.04 元社會價值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7AE60"/>
                </a:solidFill>
              </a:defRPr>
            </a:pPr>
            <a:r>
              <a:t>SROI = 1 : 2.04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台積電投資 500 萬元 → 創造 1,020 萬元社會價值</a:t>
            </a:r>
          </a:p>
          <a:p>
            <a:pPr algn="ctr">
              <a:defRPr sz="1400"/>
            </a:pPr>
            <a:r>
              <a:t>（計算標準：台灣社會影響力研究院 SROI 認證標準，5年期，折現率 3.5%）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2004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價值來源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年度金額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佔比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員工時間節省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3,200,000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31%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員工留任率提升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4,200,000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41%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ESG 評級提升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2,120,000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社會外溢效益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680,000 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7%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總社會價值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10,200,000 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/>
            </a:pPr>
            <a:r>
              <a:t>標竿比較：華碩再生電腦 1:3.61 | 陽光燒傷重建 1:2.8 | 赤土崎 1:2.04 ✓ | 平均社福 1:1.5-2.0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台積電的三重回報 - 員工、企業、社會三贏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</a:defRPr>
            </a:pPr>
            <a:r>
              <a:t>🎁 回報 1: 員工福利提升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• 員工滿意度（eNPS）提升 15 分</a:t>
            </a:r>
          </a:p>
          <a:p>
            <a:pPr>
              <a:spcBef>
                <a:spcPts val="300"/>
              </a:spcBef>
              <a:defRPr sz="1300"/>
            </a:pPr>
            <a:r>
              <a:t>• 離職率降低 5%（from 12% to 7%）</a:t>
            </a:r>
          </a:p>
          <a:p>
            <a:pPr>
              <a:spcBef>
                <a:spcPts val="300"/>
              </a:spcBef>
              <a:defRPr sz="1300"/>
            </a:pPr>
            <a:r>
              <a:t>• Offer 接受率提升 10%</a:t>
            </a:r>
          </a:p>
          <a:p>
            <a:pPr>
              <a:spcBef>
                <a:spcPts val="300"/>
              </a:spcBef>
              <a:defRPr sz="1300"/>
            </a:pPr>
            <a:r>
              <a:t>• 員工推薦入職增加 20%</a:t>
            </a:r>
          </a:p>
          <a:p>
            <a:pPr>
              <a:spcBef>
                <a:spcPts val="300"/>
              </a:spcBef>
              <a:defRPr sz="1300"/>
            </a:pPr>
          </a:p>
          <a:p>
            <a:pPr>
              <a:spcBef>
                <a:spcPts val="300"/>
              </a:spcBef>
              <a:defRPr sz="1300"/>
            </a:pPr>
            <a:r>
              <a:t>「台積電不只給高薪，更照顧我的家庭」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</a:defRPr>
            </a:pPr>
            <a:r>
              <a:t>🏢 回報 2: ESG 評級提升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• 社會面向（S）得分大幅改善</a:t>
            </a:r>
          </a:p>
          <a:p>
            <a:pPr>
              <a:spcBef>
                <a:spcPts val="300"/>
              </a:spcBef>
              <a:defRPr sz="1300"/>
            </a:pPr>
            <a:r>
              <a:t>• 對應 5 項聯合國 SDGs</a:t>
            </a:r>
          </a:p>
          <a:p>
            <a:pPr>
              <a:spcBef>
                <a:spcPts val="300"/>
              </a:spcBef>
              <a:defRPr sz="1300"/>
            </a:pPr>
            <a:r>
              <a:t>• MSCI 評級 BBB → A（提升 1 級）</a:t>
            </a:r>
          </a:p>
          <a:p>
            <a:pPr>
              <a:spcBef>
                <a:spcPts val="300"/>
              </a:spcBef>
              <a:defRPr sz="1300"/>
            </a:pPr>
            <a:r>
              <a:t>• 融資成本降低 0.5%，約節省 15 億元/年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</a:defRPr>
            </a:pPr>
            <a:r>
              <a:t>🌍 回報 3: 社會影響力提升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• 有機會獲得台灣企業永續獎、遠見 CSR 獎</a:t>
            </a:r>
          </a:p>
          <a:p>
            <a:pPr>
              <a:spcBef>
                <a:spcPts val="300"/>
              </a:spcBef>
              <a:defRPr sz="1300"/>
            </a:pPr>
            <a:r>
              <a:t>• 媒體曝光價值：5,000 萬元以上</a:t>
            </a:r>
          </a:p>
          <a:p>
            <a:pPr>
              <a:spcBef>
                <a:spcPts val="300"/>
              </a:spcBef>
              <a:defRPr sz="1300"/>
            </a:pPr>
            <a:r>
              <a:t>• 張淑芬董事長金句素材</a:t>
            </a:r>
          </a:p>
          <a:p>
            <a:pPr>
              <a:spcBef>
                <a:spcPts val="300"/>
              </a:spcBef>
              <a:defRPr sz="1300"/>
            </a:pPr>
            <a:r>
              <a:t>• 國際研討會發表機會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3 年合作時程規劃（2025-2028）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772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300"/>
            </a:pPr>
            <a:r>
              <a:t>2025 Q4: 簽署合作備忘錄（MOU）</a:t>
            </a:r>
          </a:p>
          <a:p>
            <a:pPr>
              <a:spcBef>
                <a:spcPts val="600"/>
              </a:spcBef>
              <a:defRPr sz="1300"/>
            </a:pPr>
            <a:r>
              <a:t>✓ 10/30  赤土崎標案開標（規劃設計 2,287 萬）</a:t>
            </a:r>
          </a:p>
          <a:p>
            <a:pPr>
              <a:spcBef>
                <a:spcPts val="600"/>
              </a:spcBef>
              <a:defRPr sz="1300"/>
            </a:pPr>
            <a:r>
              <a:t>🎯 11/8-11/28  設計階段需求訪談（納入台積電需求）</a:t>
            </a:r>
          </a:p>
          <a:p>
            <a:pPr>
              <a:spcBef>
                <a:spcPts val="600"/>
              </a:spcBef>
              <a:defRPr sz="1300"/>
            </a:pPr>
            <a:r>
              <a:t>🎯 11/30  簽署台積電 × 新竹市政府 MOU</a:t>
            </a:r>
          </a:p>
          <a:p>
            <a:pPr>
              <a:spcBef>
                <a:spcPts val="600"/>
              </a:spcBef>
              <a:defRPr sz="1300"/>
            </a:pPr>
            <a:r>
              <a:t>🎯 12/15  完成第一年投資撥款（500 萬元）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2026 Q1-Q2: 建築設計與設備採購</a:t>
            </a:r>
          </a:p>
          <a:p>
            <a:pPr>
              <a:spcBef>
                <a:spcPts val="600"/>
              </a:spcBef>
              <a:defRPr sz="1300"/>
            </a:pPr>
            <a:r>
              <a:t>🏗️ 01-02月  完成建築規劃設計（含台積電專區）</a:t>
            </a:r>
          </a:p>
          <a:p>
            <a:pPr>
              <a:spcBef>
                <a:spcPts val="600"/>
              </a:spcBef>
              <a:defRPr sz="1300"/>
            </a:pPr>
            <a:r>
              <a:t>📦 03-04月  設備採購（台積電捐贈設備入列）</a:t>
            </a:r>
          </a:p>
          <a:p>
            <a:pPr>
              <a:spcBef>
                <a:spcPts val="600"/>
              </a:spcBef>
              <a:defRPr sz="1300"/>
            </a:pPr>
            <a:r>
              <a:t>💼 03-06月  人力招募與訓練（29 名員工）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2026 Q3-Q4: 工程施工階段</a:t>
            </a:r>
          </a:p>
          <a:p>
            <a:pPr>
              <a:spcBef>
                <a:spcPts val="600"/>
              </a:spcBef>
              <a:defRPr sz="1300"/>
            </a:pPr>
            <a:r>
              <a:t>🏗️ 07-12月  主體工程施工（約 1.8 億元）</a:t>
            </a:r>
          </a:p>
          <a:p>
            <a:pPr>
              <a:spcBef>
                <a:spcPts val="600"/>
              </a:spcBef>
              <a:defRPr sz="1300"/>
            </a:pPr>
            <a:r>
              <a:t>🎓 09-11月  員工教育訓練（照服員、教保員認證）</a:t>
            </a:r>
          </a:p>
          <a:p>
            <a:pPr>
              <a:spcBef>
                <a:spcPts val="600"/>
              </a:spcBef>
              <a:defRPr sz="1300"/>
            </a:pPr>
            <a:r>
              <a:t>🤝 10月  台積電志工導師招募（第一批 20 人）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2027 Q1: 試營運階段</a:t>
            </a:r>
          </a:p>
          <a:p>
            <a:pPr>
              <a:spcBef>
                <a:spcPts val="600"/>
              </a:spcBef>
              <a:defRPr sz="1300"/>
            </a:pPr>
            <a:r>
              <a:t>🎉 01月  軟體開幕（邀請張淑芬董事長剪綵）</a:t>
            </a:r>
          </a:p>
          <a:p>
            <a:pPr>
              <a:spcBef>
                <a:spcPts val="600"/>
              </a:spcBef>
              <a:defRPr sz="1300"/>
            </a:pPr>
            <a:r>
              <a:t>👥 01-03月  試營運（台積電員工優先體驗）</a:t>
            </a:r>
          </a:p>
          <a:p>
            <a:pPr>
              <a:spcBef>
                <a:spcPts val="600"/>
              </a:spcBef>
              <a:defRPr sz="1300"/>
            </a:pPr>
            <a:r>
              <a:t>📊 03月  第一季成效評估（滿意度調查、SROI 驗證）</a:t>
            </a:r>
          </a:p>
          <a:p>
            <a:pPr>
              <a:spcBef>
                <a:spcPts val="600"/>
              </a:spcBef>
              <a:defRPr sz="1300"/>
            </a:pPr>
          </a:p>
          <a:p>
            <a:pPr>
              <a:spcBef>
                <a:spcPts val="600"/>
              </a:spcBef>
              <a:defRPr sz="1300"/>
            </a:pPr>
            <a:r>
              <a:t>2027 Q2: 正式營運</a:t>
            </a:r>
          </a:p>
          <a:p>
            <a:pPr>
              <a:spcBef>
                <a:spcPts val="600"/>
              </a:spcBef>
              <a:defRPr sz="1300"/>
            </a:pPr>
            <a:r>
              <a:t>🚀 04月  正式對外營運（滿載率目標 90%）</a:t>
            </a:r>
          </a:p>
          <a:p>
            <a:pPr>
              <a:spcBef>
                <a:spcPts val="600"/>
              </a:spcBef>
              <a:defRPr sz="1300"/>
            </a:pPr>
            <a:r>
              <a:t>📰 05月  媒體發表會（天下雜誌專題報導）</a:t>
            </a:r>
          </a:p>
          <a:p>
            <a:pPr>
              <a:spcBef>
                <a:spcPts val="600"/>
              </a:spcBef>
              <a:defRPr sz="1300"/>
            </a:pPr>
            <a:r>
              <a:t>🏆 06月  申請台灣企業永續獎（TCSA）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台積電的四種參與方式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30613"/>
                </a:solidFill>
              </a:defRPr>
            </a:pPr>
            <a:r>
              <a:t>💰 財務投資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年度 500 萬 × 3 年</a:t>
            </a:r>
          </a:p>
          <a:p>
            <a:pPr>
              <a:spcBef>
                <a:spcPts val="400"/>
              </a:spcBef>
              <a:defRPr sz="1400"/>
            </a:pPr>
            <a:r>
              <a:t>• 60% 服務時數</a:t>
            </a:r>
          </a:p>
          <a:p>
            <a:pPr>
              <a:spcBef>
                <a:spcPts val="400"/>
              </a:spcBef>
              <a:defRPr sz="1400"/>
            </a:pPr>
            <a:r>
              <a:t>• 20% 設備捐贈</a:t>
            </a:r>
          </a:p>
          <a:p>
            <a:pPr>
              <a:spcBef>
                <a:spcPts val="400"/>
              </a:spcBef>
              <a:defRPr sz="1400"/>
            </a:pPr>
            <a:r>
              <a:t>• 20% 志工+教育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9728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280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30613"/>
                </a:solidFill>
              </a:defRPr>
            </a:pPr>
            <a:r>
              <a:t>👥 志工參與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2880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招募 50 名員工</a:t>
            </a:r>
          </a:p>
          <a:p>
            <a:pPr>
              <a:spcBef>
                <a:spcPts val="400"/>
              </a:spcBef>
              <a:defRPr sz="1400"/>
            </a:pPr>
            <a:r>
              <a:t>• 職涯導師 30 名</a:t>
            </a:r>
          </a:p>
          <a:p>
            <a:pPr>
              <a:spcBef>
                <a:spcPts val="400"/>
              </a:spcBef>
              <a:defRPr sz="1400"/>
            </a:pPr>
            <a:r>
              <a:t>• STEAM 講師 15 名</a:t>
            </a:r>
          </a:p>
          <a:p>
            <a:pPr>
              <a:spcBef>
                <a:spcPts val="400"/>
              </a:spcBef>
              <a:defRPr sz="1400"/>
            </a:pPr>
            <a:r>
              <a:t>• 長者關懷 5 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30613"/>
                </a:solidFill>
              </a:defRPr>
            </a:pPr>
            <a:r>
              <a:t>🔧 技術支援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智慧建築技術</a:t>
            </a:r>
          </a:p>
          <a:p>
            <a:pPr>
              <a:spcBef>
                <a:spcPts val="400"/>
              </a:spcBef>
              <a:defRPr sz="1400"/>
            </a:pPr>
            <a:r>
              <a:t>• 資訊系統開發</a:t>
            </a:r>
          </a:p>
          <a:p>
            <a:pPr>
              <a:spcBef>
                <a:spcPts val="400"/>
              </a:spcBef>
              <a:defRPr sz="1400"/>
            </a:pPr>
            <a:r>
              <a:t>• 供應鏈整合</a:t>
            </a:r>
          </a:p>
          <a:p>
            <a:pPr>
              <a:spcBef>
                <a:spcPts val="400"/>
              </a:spcBef>
              <a:defRPr sz="1400"/>
            </a:pPr>
            <a:r>
              <a:t>• 節能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657600"/>
            <a:ext cx="384048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840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30613"/>
                </a:solidFill>
              </a:defRPr>
            </a:pPr>
            <a:r>
              <a:t>📢 品牌行銷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389120"/>
            <a:ext cx="3291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400"/>
            </a:pPr>
            <a:r>
              <a:t>• ESG 報告專章</a:t>
            </a:r>
          </a:p>
          <a:p>
            <a:pPr>
              <a:spcBef>
                <a:spcPts val="400"/>
              </a:spcBef>
              <a:defRPr sz="1400"/>
            </a:pPr>
            <a:r>
              <a:t>• 媒體聯合發表</a:t>
            </a:r>
          </a:p>
          <a:p>
            <a:pPr>
              <a:spcBef>
                <a:spcPts val="400"/>
              </a:spcBef>
              <a:defRPr sz="1400"/>
            </a:pPr>
            <a:r>
              <a:t>• 獎項聯合申請</a:t>
            </a:r>
          </a:p>
          <a:p>
            <a:pPr>
              <a:spcBef>
                <a:spcPts val="400"/>
              </a:spcBef>
              <a:defRPr sz="1400"/>
            </a:pPr>
            <a:r>
              <a:t>• 官網社群宣傳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風險評估與應變措施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風險 1: 滿載率不足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應變：加強宣傳、簡化流程、提供接駁、擴大對象</a:t>
            </a:r>
          </a:p>
          <a:p>
            <a:pPr>
              <a:spcBef>
                <a:spcPts val="300"/>
              </a:spcBef>
              <a:defRPr sz="1300"/>
            </a:pPr>
            <a:r>
              <a:t>保底：若 &lt; 80%，市府補足差額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3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風險 2: 服務品質不佳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19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應變：每月滿意度調查、專線客服、台積電窗口</a:t>
            </a:r>
          </a:p>
          <a:p>
            <a:pPr>
              <a:spcBef>
                <a:spcPts val="300"/>
              </a:spcBef>
              <a:defRPr sz="1300"/>
            </a:pPr>
            <a:r>
              <a:t>SLA：滿意度 &lt; 85% 立即改善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59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風險 3: 政策變動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5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應變：多元化收入（企業佔 50%）、提前申請法規適用</a:t>
            </a:r>
          </a:p>
          <a:p>
            <a:pPr>
              <a:spcBef>
                <a:spcPts val="300"/>
              </a:spcBef>
              <a:defRPr sz="1300"/>
            </a:pPr>
            <a:r>
              <a:t>緩衝：即使補助減少 30%，仍可平衡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59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風險 4: 聲譽風險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300"/>
            </a:pPr>
            <a:r>
              <a:t>應變：危機處理小組、5,000萬責任險、嚴格安全標準</a:t>
            </a:r>
          </a:p>
          <a:p>
            <a:pPr>
              <a:spcBef>
                <a:spcPts val="300"/>
              </a:spcBef>
              <a:defRPr sz="1300"/>
            </a:pPr>
            <a:r>
              <a:t>預防：每季演練、透明化管理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</a:defRPr>
            </a:pPr>
            <a:r>
              <a:t>✓ 風險可控  ✓ 應變措施完善  ✓ 投資穩健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國際標竿案例 - 我們不是第一個，但可以做得更好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t>🇯🇵 日本：共生型服務（2018年實施，7年經驗）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模式：兒童發展支援 + 長者日照</a:t>
            </a:r>
          </a:p>
          <a:p>
            <a:pPr>
              <a:spcBef>
                <a:spcPts val="300"/>
              </a:spcBef>
              <a:defRPr sz="1400"/>
            </a:pPr>
            <a:r>
              <a:t>創新：赤土崎涵蓋「幼兒 + 長者 + 青少年 + 家庭」，更全面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t>🇳🇱 荷蘭：Humanitas 跨代護理之家（10年+）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79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模式：160 位長者 + 6 位大學生共居</a:t>
            </a:r>
          </a:p>
          <a:p>
            <a:pPr>
              <a:spcBef>
                <a:spcPts val="300"/>
              </a:spcBef>
              <a:defRPr sz="1400"/>
            </a:pPr>
            <a:r>
              <a:t>創新：赤土崎整合「全齡（0-99歲）+ 企業 ESG」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t>🇹🇼 台灣：老幼共學（2016年起）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模式：高雄福樂學堂（日照設於小學內）</a:t>
            </a:r>
          </a:p>
          <a:p>
            <a:pPr>
              <a:spcBef>
                <a:spcPts val="300"/>
              </a:spcBef>
              <a:defRPr sz="1400"/>
            </a:pPr>
            <a:r>
              <a:t>創新：赤土崎「深度整合 + 企業參與 + SROI 計算」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 b="1"/>
            </a:pPr>
            <a:r>
              <a:t>🏆 赤土崎模式的三大國際領先優勢</a:t>
            </a:r>
          </a:p>
          <a:p>
            <a:pPr>
              <a:spcBef>
                <a:spcPts val="600"/>
              </a:spcBef>
              <a:defRPr sz="1600" b="1"/>
            </a:pPr>
          </a:p>
          <a:p>
            <a:pPr>
              <a:spcBef>
                <a:spcPts val="600"/>
              </a:spcBef>
              <a:defRPr sz="1600" b="1"/>
            </a:pPr>
            <a:r>
              <a:t>1️⃣ 全齡整合：0-99 歲全覆蓋（全球首創）</a:t>
            </a:r>
          </a:p>
          <a:p>
            <a:pPr>
              <a:spcBef>
                <a:spcPts val="600"/>
              </a:spcBef>
              <a:defRPr sz="1600" b="1"/>
            </a:pPr>
            <a:r>
              <a:t>2️⃣ 企業ESG深度參與：不只捐款，更參與經營</a:t>
            </a:r>
          </a:p>
          <a:p>
            <a:pPr>
              <a:spcBef>
                <a:spcPts val="600"/>
              </a:spcBef>
              <a:defRPr sz="1600" b="1"/>
            </a:pPr>
            <a:r>
              <a:t>3️⃣ SROI 嚴格計算：每 1 元創造 2.04 元價值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為什麼是「現在」？三個黃金窗口同時開啟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⏰ 窗口 1: 標案設計階段（11/8-11/28）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• 標案已發包：114A109，10/30 開標</a:t>
            </a:r>
          </a:p>
          <a:p>
            <a:pPr>
              <a:spcBef>
                <a:spcPts val="300"/>
              </a:spcBef>
              <a:defRPr sz="1400"/>
            </a:pPr>
            <a:r>
              <a:t>• 這是納入「台積電專區」的最後機會</a:t>
            </a:r>
          </a:p>
          <a:p>
            <a:pPr>
              <a:spcBef>
                <a:spcPts val="300"/>
              </a:spcBef>
              <a:defRPr sz="1400"/>
            </a:pPr>
            <a:r>
              <a:t>• 錯過這次，要再等 5 年、多花 2 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💰 窗口 2: 財劃法修正生效（2025年）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• 新竹市預算暴增：83 億 → 293 億（+210 億）</a:t>
            </a:r>
          </a:p>
          <a:p>
            <a:pPr>
              <a:spcBef>
                <a:spcPts val="300"/>
              </a:spcBef>
              <a:defRPr sz="1400"/>
            </a:pPr>
            <a:r>
              <a:t>• 市府「有錢、有意願、有壓力」三者齊備</a:t>
            </a:r>
          </a:p>
          <a:p>
            <a:pPr>
              <a:spcBef>
                <a:spcPts val="300"/>
              </a:spcBef>
              <a:defRPr sz="1400"/>
            </a:pPr>
            <a:r>
              <a:t>• 企業 ESG 投資可加速決策、提升優先級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30613"/>
                </a:solidFill>
              </a:defRPr>
            </a:pPr>
            <a:r>
              <a:t>🌍 窗口 3: ESG 標準整合（2025-2026）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• 2026 年起全球強制 ESG 揭露（ISSB 標準）</a:t>
            </a:r>
          </a:p>
          <a:p>
            <a:pPr>
              <a:spcBef>
                <a:spcPts val="300"/>
              </a:spcBef>
              <a:defRPr sz="1400"/>
            </a:pPr>
            <a:r>
              <a:t>• 投資人更重視「可量化」社會影響力</a:t>
            </a:r>
          </a:p>
          <a:p>
            <a:pPr>
              <a:spcBef>
                <a:spcPts val="300"/>
              </a:spcBef>
              <a:defRPr sz="1400"/>
            </a:pPr>
            <a:r>
              <a:t>• 搶在競爭對手前建立標竿，MSCI BBB → 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669280"/>
            <a:ext cx="6400800" cy="731520"/>
          </a:xfrm>
          <a:prstGeom prst="rect">
            <a:avLst/>
          </a:prstGeom>
          <a:solidFill>
            <a:srgbClr val="E306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🚀 三個窗口同時開啟，機不可失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現在不投資，何時投資？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我們需要台積電的決定 - 下一步行動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solidFill>
            <a:srgbClr val="E306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請台積電在 2 週內（11/15 前）決定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✓ 是否參與「竹科家庭照護時數銀行」專案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✓ 投資額度：500 萬/年 × 3 年 = 1,500 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500"/>
            </a:pPr>
            <a:r>
              <a:t>🤝 如果台積電決定參與，接下來的流程：</a:t>
            </a:r>
          </a:p>
          <a:p>
            <a:pPr>
              <a:spcBef>
                <a:spcPts val="600"/>
              </a:spcBef>
              <a:defRPr sz="1500"/>
            </a:pPr>
          </a:p>
          <a:p>
            <a:pPr>
              <a:spcBef>
                <a:spcPts val="600"/>
              </a:spcBef>
              <a:defRPr sz="1500"/>
            </a:pPr>
            <a:r>
              <a:t>第 1 步（11/15）：簽署合作意向書（LOI）</a:t>
            </a:r>
          </a:p>
          <a:p>
            <a:pPr>
              <a:spcBef>
                <a:spcPts val="600"/>
              </a:spcBef>
              <a:defRPr sz="1500"/>
            </a:pPr>
            <a:r>
              <a:t>第 2 步（11/20）：提交設計需求清單（台積電專區）</a:t>
            </a:r>
          </a:p>
          <a:p>
            <a:pPr>
              <a:spcBef>
                <a:spcPts val="600"/>
              </a:spcBef>
              <a:defRPr sz="1500"/>
            </a:pPr>
            <a:r>
              <a:t>第 3 步（11/30）：簽署正式 MOU + 第一年撥款 500 萬</a:t>
            </a:r>
          </a:p>
          <a:p>
            <a:pPr>
              <a:spcBef>
                <a:spcPts val="600"/>
              </a:spcBef>
              <a:defRPr sz="1500"/>
            </a:pPr>
            <a:r>
              <a:t>第 4 步（12 月起）：設計階段參與（每月 1 次會議）</a:t>
            </a:r>
          </a:p>
          <a:p>
            <a:pPr>
              <a:spcBef>
                <a:spcPts val="600"/>
              </a:spcBef>
              <a:defRPr sz="1500"/>
            </a:pPr>
            <a:r>
              <a:t>第 5 步（2026 年）：持續追蹤與監督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400"/>
            </a:pPr>
            <a:r>
              <a:t>📞 聯絡窗口</a:t>
            </a:r>
          </a:p>
          <a:p>
            <a:pPr algn="ctr">
              <a:spcBef>
                <a:spcPts val="400"/>
              </a:spcBef>
              <a:defRPr sz="1400"/>
            </a:pPr>
          </a:p>
          <a:p>
            <a:pPr algn="ctr">
              <a:spcBef>
                <a:spcPts val="400"/>
              </a:spcBef>
              <a:defRPr sz="1400"/>
            </a:pPr>
            <a:r>
              <a:t>新竹市政府社會處 | 專案顧問團隊：Easterlin Hsinchu Team</a:t>
            </a:r>
          </a:p>
          <a:p>
            <a:pPr algn="ctr">
              <a:spcBef>
                <a:spcPts val="400"/>
              </a:spcBef>
              <a:defRPr sz="1400"/>
            </a:pPr>
            <a:r>
              <a:t>⏰ 回覆期限：2025 年 11 月 15 日（五）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一起創造「看得見、摸得著、算得出」的社會價值</a:t>
            </a:r>
          </a:p>
          <a:p>
            <a:pPr algn="ctr">
              <a:defRPr sz="2000" b="1">
                <a:solidFill>
                  <a:srgbClr val="27AE60"/>
                </a:solidFill>
              </a:defRPr>
            </a:pPr>
            <a:r>
              <a:t>謝謝各位！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