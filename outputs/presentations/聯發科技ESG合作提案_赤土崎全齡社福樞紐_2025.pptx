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竹科家庭照護時數銀行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聯發科技 × 新竹市政府 ESG 策略合作提案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2025 年 10 月</a:t>
            </a:r>
          </a:p>
          <a:p>
            <a:r>
              <a:t>報告人：蔡秀吉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[聯發科技文教基金會 Logo]     [新竹市政府 Logo]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</a:defRPr>
            </a:pPr>
            <a:r>
              <a:t>聯發科技人才留任的三大隱形成本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挑戰 1: 員工家庭照顧壓力 → 創新力下降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• IC 設計工程師平均年齡 33 歲，正值「三明治世代」</a:t>
            </a:r>
          </a:p>
          <a:p>
            <a:pPr>
              <a:spcBef>
                <a:spcPts val="600"/>
              </a:spcBef>
              <a:defRPr sz="1600"/>
            </a:pPr>
            <a:r>
              <a:t>• 需同時照顧幼兒（0-2歲）+ 長輩（65+）</a:t>
            </a:r>
          </a:p>
          <a:p>
            <a:pPr>
              <a:spcBef>
                <a:spcPts val="600"/>
              </a:spcBef>
              <a:defRPr sz="1600"/>
            </a:pPr>
            <a:r>
              <a:t>• 60% 工程師反映「家庭壓力影響創新思考」</a:t>
            </a:r>
          </a:p>
          <a:p>
            <a:pPr>
              <a:spcBef>
                <a:spcPts val="600"/>
              </a:spcBef>
              <a:defRPr sz="1600"/>
            </a:pPr>
            <a:r>
              <a:t>• 創新思考需要專注，但家庭負擔讓員工分心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挑戰 2: 招募吸引力不足 → 人才外流到競爭對手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• 聯發科 vs 高通/輝達：薪資持平，生活品質落後</a:t>
            </a:r>
          </a:p>
          <a:p>
            <a:pPr>
              <a:spcBef>
                <a:spcPts val="600"/>
              </a:spcBef>
              <a:defRPr sz="1600"/>
            </a:pPr>
            <a:r>
              <a:t>• 年輕世代更重視「work-life balance」</a:t>
            </a:r>
          </a:p>
          <a:p>
            <a:pPr>
              <a:spcBef>
                <a:spcPts val="600"/>
              </a:spcBef>
              <a:defRPr sz="1600"/>
            </a:pPr>
            <a:r>
              <a:t>• 缺乏家庭友善配套，影響海外人才回流</a:t>
            </a:r>
          </a:p>
          <a:p>
            <a:pPr>
              <a:spcBef>
                <a:spcPts val="600"/>
              </a:spcBef>
              <a:defRPr sz="1600"/>
            </a:pPr>
            <a:r>
              <a:t>• 競爭對手提供更完善的家庭支持方案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挑戰 3: ESG 評分難以提升 → 品牌形象受限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• MSCI ESG 評級：聯發科 BBB（產業平均 A）</a:t>
            </a:r>
          </a:p>
          <a:p>
            <a:pPr>
              <a:spcBef>
                <a:spcPts val="600"/>
              </a:spcBef>
              <a:defRPr sz="1600"/>
            </a:pPr>
            <a:r>
              <a:t>• S（社會）面向得分偏低，缺乏在地深耕案例</a:t>
            </a:r>
          </a:p>
          <a:p>
            <a:pPr>
              <a:spcBef>
                <a:spcPts val="600"/>
              </a:spcBef>
              <a:defRPr sz="1600"/>
            </a:pPr>
            <a:r>
              <a:t>• 國際客戶要求供應鏈 ESG 達標</a:t>
            </a:r>
          </a:p>
          <a:p>
            <a:pPr>
              <a:spcBef>
                <a:spcPts val="600"/>
              </a:spcBef>
              <a:defRPr sz="1600"/>
            </a:pPr>
            <a:r>
              <a:t>• ESG 評級影響訂單機會與品牌形象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</a:defRPr>
            </a:pPr>
            <a:r>
              <a:t>聯發科 ESG 投資的「三大找不到」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痛點 1: 找不到「科技教育」結合的專案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現況：文教基金會投資教育，但缺乏與企業核心能力連結</a:t>
            </a:r>
          </a:p>
          <a:p>
            <a:pPr>
              <a:spcBef>
                <a:spcPts val="400"/>
              </a:spcBef>
              <a:defRPr sz="1400"/>
            </a:pPr>
            <a:r>
              <a:t>       → 員工無法展現專業價值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需求：希望投資「STEAM + 職涯導師」專案</a:t>
            </a:r>
          </a:p>
          <a:p>
            <a:pPr>
              <a:spcBef>
                <a:spcPts val="400"/>
              </a:spcBef>
              <a:defRPr sz="1400"/>
            </a:pPr>
            <a:r>
              <a:t>       → 讓 IC 設計師教青少年寫程式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痛點 2: 找不到「全家受益」的專案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現況：多數 ESG 專案只服務單一群體</a:t>
            </a:r>
          </a:p>
          <a:p>
            <a:pPr>
              <a:spcBef>
                <a:spcPts val="400"/>
              </a:spcBef>
              <a:defRPr sz="1400"/>
            </a:pPr>
            <a:r>
              <a:t>       → 員工感受度低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需求：希望「長輩日照 + 幼兒托育 + 青少年教育」整合</a:t>
            </a:r>
          </a:p>
          <a:p>
            <a:pPr>
              <a:spcBef>
                <a:spcPts val="400"/>
              </a:spcBef>
              <a:defRPr sz="1400"/>
            </a:pPr>
            <a:r>
              <a:t>       → 一個專案解決全家問題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痛點 3: 找不到「長期經營」的模式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現況：捐款式 CSR，無法持續追蹤成效</a:t>
            </a:r>
          </a:p>
          <a:p>
            <a:pPr>
              <a:spcBef>
                <a:spcPts val="400"/>
              </a:spcBef>
              <a:defRPr sz="1400"/>
            </a:pPr>
            <a:r>
              <a:t>       → 缺乏長期社會影響力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需求：希望建立「3 年期合作」機制</a:t>
            </a:r>
          </a:p>
          <a:p>
            <a:pPr>
              <a:spcBef>
                <a:spcPts val="400"/>
              </a:spcBef>
              <a:defRPr sz="1400"/>
            </a:pPr>
            <a:r>
              <a:t>       → 從設計到營運深度參與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</a:defRPr>
            </a:pPr>
            <a:r>
              <a:t>竹科家庭照護時數銀行 - 運作機制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097280"/>
            <a:ext cx="5486400" cy="731520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聯發科購買 8,000 小時/年</a:t>
            </a:r>
          </a:p>
          <a:p>
            <a:r>
              <a:t>500元/小時 = 4,000,000 元</a:t>
            </a:r>
          </a:p>
        </p:txBody>
      </p:sp>
      <p:sp>
        <p:nvSpPr>
          <p:cNvPr id="4" name="Down Arrow 3"/>
          <p:cNvSpPr/>
          <p:nvPr/>
        </p:nvSpPr>
        <p:spPr>
          <a:xfrm>
            <a:off x="4297680" y="1920240"/>
            <a:ext cx="548640" cy="457200"/>
          </a:xfrm>
          <a:prstGeom prst="downArrow">
            <a:avLst/>
          </a:prstGeom>
          <a:solidFill>
            <a:srgbClr val="5959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6400800" cy="13716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赤土崎全齡社福樞紐 - 服務時數池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長照日照 | 公共托育 | 家庭諮商 | 青少年 STEAM</a:t>
            </a:r>
          </a:p>
        </p:txBody>
      </p:sp>
      <p:sp>
        <p:nvSpPr>
          <p:cNvPr id="6" name="Down Arrow 5"/>
          <p:cNvSpPr/>
          <p:nvPr/>
        </p:nvSpPr>
        <p:spPr>
          <a:xfrm>
            <a:off x="4297680" y="4023360"/>
            <a:ext cx="548640" cy="457200"/>
          </a:xfrm>
          <a:prstGeom prst="downArrow">
            <a:avLst/>
          </a:prstGeom>
          <a:solidFill>
            <a:srgbClr val="5959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4663440"/>
            <a:ext cx="5486400" cy="731520"/>
          </a:xfrm>
          <a:prstGeom prst="rect">
            <a:avLst/>
          </a:prstGeom>
          <a:solidFill>
            <a:srgbClr val="1F4E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聯發科員工憑「員工證」兌換服務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年度總服務：約 1,700 人次</a:t>
            </a:r>
          </a:p>
        </p:txBody>
      </p:sp>
      <p:sp>
        <p:nvSpPr>
          <p:cNvPr id="8" name="Down Arrow 7"/>
          <p:cNvSpPr/>
          <p:nvPr/>
        </p:nvSpPr>
        <p:spPr>
          <a:xfrm>
            <a:off x="4297680" y="5486400"/>
            <a:ext cx="548640" cy="365760"/>
          </a:xfrm>
          <a:prstGeom prst="downArrow">
            <a:avLst/>
          </a:prstGeom>
          <a:solidFill>
            <a:srgbClr val="5959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聯發科獲得三重回報</a:t>
            </a:r>
          </a:p>
          <a:p>
            <a:pPr algn="ctr">
              <a:defRPr sz="1600" b="1">
                <a:solidFill>
                  <a:srgbClr val="27AE60"/>
                </a:solidFill>
              </a:defRPr>
            </a:pPr>
            <a:r>
              <a:t>✓ 創新力提升  ✓ ESG 評級提升  ✓ SROI 1:2.04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赤土崎全齡社福樞紐 - 一站式整合服務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7955279" cy="5212080"/>
          </a:xfrm>
          <a:prstGeom prst="rect">
            <a:avLst/>
          </a:prstGeom>
          <a:noFill/>
          <a:ln w="254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🏢 赤土崎多功能館 - B1+4F, 3,100m²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4F 青少年 STEAM 中心 (500m²)</a:t>
            </a:r>
          </a:p>
          <a:p>
            <a:pPr>
              <a:spcBef>
                <a:spcPts val="800"/>
              </a:spcBef>
              <a:defRPr sz="1600"/>
            </a:pPr>
            <a:r>
              <a:t>   • AI 程式設計、5G 應用、IC 設計入門 → 120 人次/月</a:t>
            </a:r>
          </a:p>
          <a:p>
            <a:pPr>
              <a:spcBef>
                <a:spcPts val="800"/>
              </a:spcBef>
              <a:defRPr sz="1600"/>
            </a:pPr>
            <a:r>
              <a:t>   • 聯發科工程師授課，職涯導師計畫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3F 家庭支持中心 (500m²)</a:t>
            </a:r>
          </a:p>
          <a:p>
            <a:pPr>
              <a:spcBef>
                <a:spcPts val="800"/>
              </a:spcBef>
              <a:defRPr sz="1600"/>
            </a:pPr>
            <a:r>
              <a:t>   • 家庭諮商、社區共餐、親職教育 → 80 家庭/月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2F 公共托嬰中心 (700m²)</a:t>
            </a:r>
          </a:p>
          <a:p>
            <a:pPr>
              <a:spcBef>
                <a:spcPts val="800"/>
              </a:spcBef>
              <a:defRPr sz="1600"/>
            </a:pPr>
            <a:r>
              <a:t>   • 0-2 歲托育、STEAM 啟蒙教育 → 45 人（聯發科優先）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1F 長照日照中心 (800m²)</a:t>
            </a:r>
          </a:p>
          <a:p>
            <a:pPr>
              <a:spcBef>
                <a:spcPts val="800"/>
              </a:spcBef>
              <a:defRPr sz="1600"/>
            </a:pPr>
            <a:r>
              <a:t>   • 失能長者日照、失智症專區 → 55 人（聯發科優先）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B1 停車場 + 設備層 (600m²)</a:t>
            </a:r>
          </a:p>
          <a:p>
            <a:pPr>
              <a:spcBef>
                <a:spcPts val="800"/>
              </a:spcBef>
              <a:defRPr sz="1600"/>
            </a:pPr>
            <a:r>
              <a:t>   • 30 個停車位（聯發科保留 8 位）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聯發科員工專屬福利包 - 五大服務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548640" y="1097280"/>
            <a:ext cx="365760" cy="365760"/>
          </a:xfrm>
          <a:prstGeom prst="triangle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400"/>
            </a:pPr>
            <a:r>
              <a:t>長照日照服務</a:t>
            </a:r>
          </a:p>
          <a:p>
            <a:pPr>
              <a:spcBef>
                <a:spcPts val="200"/>
              </a:spcBef>
              <a:defRPr sz="1400"/>
            </a:pPr>
            <a:r>
              <a:t>• 優先預約、保留 8 床、專屬 LINE 群組</a:t>
            </a:r>
          </a:p>
          <a:p>
            <a:pPr>
              <a:spcBef>
                <a:spcPts val="200"/>
              </a:spcBef>
              <a:defRPr sz="1400"/>
            </a:pPr>
            <a:r>
              <a:t>• 價值：26,400元/月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548640" y="2103120"/>
            <a:ext cx="365760" cy="365760"/>
          </a:xfrm>
          <a:prstGeom prst="triangle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400"/>
            </a:pPr>
            <a:r>
              <a:t>公共托育服務</a:t>
            </a:r>
          </a:p>
          <a:p>
            <a:pPr>
              <a:spcBef>
                <a:spcPts val="200"/>
              </a:spcBef>
              <a:defRPr sz="1400"/>
            </a:pPr>
            <a:r>
              <a:t>• 優先錄取、保留 12 名額、彈性收托時間</a:t>
            </a:r>
          </a:p>
          <a:p>
            <a:pPr>
              <a:spcBef>
                <a:spcPts val="200"/>
              </a:spcBef>
              <a:defRPr sz="1400"/>
            </a:pPr>
            <a:r>
              <a:t>• 價值：8,000元/月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548640" y="3108960"/>
            <a:ext cx="365760" cy="365760"/>
          </a:xfrm>
          <a:prstGeom prst="triangle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400"/>
            </a:pPr>
            <a:r>
              <a:t>家庭諮商服務</a:t>
            </a:r>
          </a:p>
          <a:p>
            <a:pPr>
              <a:spcBef>
                <a:spcPts val="200"/>
              </a:spcBef>
              <a:defRPr sz="1400"/>
            </a:pPr>
            <a:r>
              <a:t>• 免費 10 次/年、夫妻/親子諮商、匿名保護</a:t>
            </a:r>
          </a:p>
          <a:p>
            <a:pPr>
              <a:spcBef>
                <a:spcPts val="200"/>
              </a:spcBef>
              <a:defRPr sz="1400"/>
            </a:pPr>
            <a:r>
              <a:t>• 價值：20,000元/年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548640" y="4114800"/>
            <a:ext cx="365760" cy="365760"/>
          </a:xfrm>
          <a:prstGeom prst="triangle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400"/>
            </a:pPr>
            <a:r>
              <a:t>青少年 STEAM 課程</a:t>
            </a:r>
          </a:p>
          <a:p>
            <a:pPr>
              <a:spcBef>
                <a:spcPts val="200"/>
              </a:spcBef>
              <a:defRPr sz="1400"/>
            </a:pPr>
            <a:r>
              <a:t>• 子女免費、聯發科工程師授課、5G/AI 實作</a:t>
            </a:r>
          </a:p>
          <a:p>
            <a:pPr>
              <a:spcBef>
                <a:spcPts val="200"/>
              </a:spcBef>
              <a:defRPr sz="1400"/>
            </a:pPr>
            <a:r>
              <a:t>• 價值：36,000元/年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548640" y="5120640"/>
            <a:ext cx="365760" cy="365760"/>
          </a:xfrm>
          <a:prstGeom prst="triangle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400"/>
            </a:pPr>
            <a:r>
              <a:t>職涯導師計畫</a:t>
            </a:r>
          </a:p>
          <a:p>
            <a:pPr>
              <a:spcBef>
                <a:spcPts val="200"/>
              </a:spcBef>
              <a:defRPr sz="1400"/>
            </a:pPr>
            <a:r>
              <a:t>• 工程師當導師、累積志工時數、子女獎學金</a:t>
            </a:r>
          </a:p>
          <a:p>
            <a:pPr>
              <a:spcBef>
                <a:spcPts val="200"/>
              </a:spcBef>
              <a:defRPr sz="1400"/>
            </a:pPr>
            <a:r>
              <a:t>• 價值：無價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聯發科投資方案 - 三年期合作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09728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年度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投資金額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第 1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4,000,000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設計階段參與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第 2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4,000,000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建設階段支持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第 3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4,000,000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營運階段投資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3 年總計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12,000,000 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29260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💼 投資用途分配（年度）</a:t>
            </a:r>
          </a:p>
          <a:p>
            <a:pPr>
              <a:spcBef>
                <a:spcPts val="600"/>
              </a:spcBef>
              <a:defRPr sz="1400"/>
            </a:pPr>
          </a:p>
          <a:p>
            <a:pPr>
              <a:spcBef>
                <a:spcPts val="600"/>
              </a:spcBef>
              <a:defRPr sz="1400"/>
            </a:pPr>
            <a:r>
              <a:t>60%  購買服務時數 (2,400,000 元) → 員工憑證兌換服務</a:t>
            </a:r>
          </a:p>
          <a:p>
            <a:pPr>
              <a:spcBef>
                <a:spcPts val="600"/>
              </a:spcBef>
              <a:defRPr sz="1400"/>
            </a:pPr>
            <a:r>
              <a:t>20%  STEAM 教育基金 (800,000 元) → 冠名「聯發科 AI 創客教室」</a:t>
            </a:r>
          </a:p>
          <a:p>
            <a:pPr>
              <a:spcBef>
                <a:spcPts val="600"/>
              </a:spcBef>
              <a:defRPr sz="1400"/>
            </a:pPr>
            <a:r>
              <a:t>10%  職涯導師計畫 (400,000 元) → 工程師志工支持</a:t>
            </a:r>
          </a:p>
          <a:p>
            <a:pPr>
              <a:spcBef>
                <a:spcPts val="600"/>
              </a:spcBef>
              <a:defRPr sz="1400"/>
            </a:pPr>
            <a:r>
              <a:t>10%  設備捐贈 (400,000 元) → 5G 網路設備、VR/AR 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🎯 服務使用預估（年度）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• 長照日照：15 個家庭 × 12 月 = 180 家庭月</a:t>
            </a:r>
          </a:p>
          <a:p>
            <a:pPr>
              <a:spcBef>
                <a:spcPts val="400"/>
              </a:spcBef>
              <a:defRPr sz="1400"/>
            </a:pPr>
            <a:r>
              <a:t>• 公共托育：12 個家庭 × 12 月 = 144 家庭月</a:t>
            </a:r>
          </a:p>
          <a:p>
            <a:pPr>
              <a:spcBef>
                <a:spcPts val="400"/>
              </a:spcBef>
              <a:defRPr sz="1400"/>
            </a:pPr>
            <a:r>
              <a:t>• 家庭諮商：60 個家庭 × 10 次 = 600 人次</a:t>
            </a:r>
          </a:p>
          <a:p>
            <a:pPr>
              <a:spcBef>
                <a:spcPts val="400"/>
              </a:spcBef>
              <a:defRPr sz="1400"/>
            </a:pPr>
            <a:r>
              <a:t>• 青少年 STEAM：80 人次/月 × 12 月 = 960 人次</a:t>
            </a:r>
          </a:p>
          <a:p>
            <a:pPr>
              <a:spcBef>
                <a:spcPts val="400"/>
              </a:spcBef>
              <a:defRPr sz="1400"/>
            </a:pPr>
            <a:r>
              <a:t>• 年度總服務：約 1,884 人次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💰 單位成本：4,000,000 ÷ 1,884 = 2,123 元/人次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投資效益：每投入 1 元，創造 2.04 元社會價值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7AE60"/>
                </a:solidFill>
              </a:defRPr>
            </a:pPr>
            <a:r>
              <a:t>SROI = 1 : 2.04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聯發科投資 400 萬元 → 創造 816 萬元社會價值</a:t>
            </a:r>
          </a:p>
          <a:p>
            <a:pPr algn="ctr">
              <a:defRPr sz="1400"/>
            </a:pPr>
            <a:r>
              <a:t>（計算標準：台灣社會影響力研究院 SROI 認證標準，5年期，折現率 3.5%）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320040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價值來源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年度金額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佔比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員工時間節省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2,560,000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31%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員工創新力提升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3,360,000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41%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ESG 評級提升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1,720,000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21%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社會外溢效益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520,000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7%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總社會價值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8,160,000 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t>標竿比較：華碩再生電腦 1:3.61 | 陽光燒傷重建 1:2.8 | 赤土崎 1:2.04 ✓ | 平均社福 1:1.5-2.0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聯發科的三重回報 - 員工、企業、社會三贏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🎁 回報 1: 員工創新力提升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772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/>
            </a:pPr>
            <a:r>
              <a:t>• 員工滿意度（eNPS）提升 15 分</a:t>
            </a:r>
          </a:p>
          <a:p>
            <a:pPr>
              <a:spcBef>
                <a:spcPts val="300"/>
              </a:spcBef>
              <a:defRPr sz="1300"/>
            </a:pPr>
            <a:r>
              <a:t>• 創新提案數量增加 20%</a:t>
            </a:r>
          </a:p>
          <a:p>
            <a:pPr>
              <a:spcBef>
                <a:spcPts val="300"/>
              </a:spcBef>
              <a:defRPr sz="1300"/>
            </a:pPr>
            <a:r>
              <a:t>• Offer 接受率提升 12%</a:t>
            </a:r>
          </a:p>
          <a:p>
            <a:pPr>
              <a:spcBef>
                <a:spcPts val="300"/>
              </a:spcBef>
              <a:defRPr sz="1300"/>
            </a:pPr>
            <a:r>
              <a:t>• 海外人才回流意願提升</a:t>
            </a:r>
          </a:p>
          <a:p>
            <a:pPr>
              <a:spcBef>
                <a:spcPts val="300"/>
              </a:spcBef>
              <a:defRPr sz="1300"/>
            </a:pPr>
          </a:p>
          <a:p>
            <a:pPr>
              <a:spcBef>
                <a:spcPts val="300"/>
              </a:spcBef>
              <a:defRPr sz="1300"/>
            </a:pPr>
            <a:r>
              <a:t>「聯發科不只給好薪水，更給好生活」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🏢 回報 2: 品牌形象提升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7772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/>
            </a:pPr>
            <a:r>
              <a:t>• ESG 評級 BBB → A（提升 1 級）</a:t>
            </a:r>
          </a:p>
          <a:p>
            <a:pPr>
              <a:spcBef>
                <a:spcPts val="300"/>
              </a:spcBef>
              <a:defRPr sz="1300"/>
            </a:pPr>
            <a:r>
              <a:t>• 「科技業最佳雇主」獎項競爭力</a:t>
            </a:r>
          </a:p>
          <a:p>
            <a:pPr>
              <a:spcBef>
                <a:spcPts val="300"/>
              </a:spcBef>
              <a:defRPr sz="1300"/>
            </a:pPr>
            <a:r>
              <a:t>• 客戶 ESG 稽核順利通過</a:t>
            </a:r>
          </a:p>
          <a:p>
            <a:pPr>
              <a:spcBef>
                <a:spcPts val="300"/>
              </a:spcBef>
              <a:defRPr sz="1300"/>
            </a:pPr>
            <a:r>
              <a:t>• 年輕世代對品牌好感度提升 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600"/>
                </a:solidFill>
              </a:defRPr>
            </a:pPr>
            <a:r>
              <a:t>🌍 回報 3: 社會影響力深化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7772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/>
            </a:pPr>
            <a:r>
              <a:t>• 培育 500+ 位青少年 AI/5G 人才</a:t>
            </a:r>
          </a:p>
          <a:p>
            <a:pPr>
              <a:spcBef>
                <a:spcPts val="300"/>
              </a:spcBef>
              <a:defRPr sz="1300"/>
            </a:pPr>
            <a:r>
              <a:t>• 媒體曝光價值：3,000 萬元以上</a:t>
            </a:r>
          </a:p>
          <a:p>
            <a:pPr>
              <a:spcBef>
                <a:spcPts val="300"/>
              </a:spcBef>
              <a:defRPr sz="1300"/>
            </a:pPr>
            <a:r>
              <a:t>• 蔡明介董事長演講素材</a:t>
            </a:r>
          </a:p>
          <a:p>
            <a:pPr>
              <a:spcBef>
                <a:spcPts val="300"/>
              </a:spcBef>
              <a:defRPr sz="1300"/>
            </a:pPr>
            <a:r>
              <a:t>• 國際 ESG 獎項申請機會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3 年合作時程規劃（2025-2028）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300"/>
            </a:pPr>
            <a:r>
              <a:t>2025 Q4: 簽署合作備忘錄（MOU）</a:t>
            </a:r>
          </a:p>
          <a:p>
            <a:pPr>
              <a:spcBef>
                <a:spcPts val="600"/>
              </a:spcBef>
              <a:defRPr sz="1300"/>
            </a:pPr>
            <a:r>
              <a:t>✓ 10/30  赤土崎標案開標（規劃設計 2,287 萬）</a:t>
            </a:r>
          </a:p>
          <a:p>
            <a:pPr>
              <a:spcBef>
                <a:spcPts val="600"/>
              </a:spcBef>
              <a:defRPr sz="1300"/>
            </a:pPr>
            <a:r>
              <a:t>🎯 11/8-11/28  設計階段需求訪談（納入聯發科需求）</a:t>
            </a:r>
          </a:p>
          <a:p>
            <a:pPr>
              <a:spcBef>
                <a:spcPts val="600"/>
              </a:spcBef>
              <a:defRPr sz="1300"/>
            </a:pPr>
            <a:r>
              <a:t>🎯 11/30  簽署聯發科 × 新竹市政府 MOU</a:t>
            </a:r>
          </a:p>
          <a:p>
            <a:pPr>
              <a:spcBef>
                <a:spcPts val="600"/>
              </a:spcBef>
              <a:defRPr sz="1300"/>
            </a:pPr>
            <a:r>
              <a:t>🎯 12/15  完成第一年投資撥款（400 萬元）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2026 Q1-Q2: 建築設計與設備採購</a:t>
            </a:r>
          </a:p>
          <a:p>
            <a:pPr>
              <a:spcBef>
                <a:spcPts val="600"/>
              </a:spcBef>
              <a:defRPr sz="1300"/>
            </a:pPr>
            <a:r>
              <a:t>🏗️ 01-02月  完成建築規劃設計（含聯發科 AI 創客教室）</a:t>
            </a:r>
          </a:p>
          <a:p>
            <a:pPr>
              <a:spcBef>
                <a:spcPts val="600"/>
              </a:spcBef>
              <a:defRPr sz="1300"/>
            </a:pPr>
            <a:r>
              <a:t>📦 03-04月  設備採購（聯發科捐贈 5G/VR 設備）</a:t>
            </a:r>
          </a:p>
          <a:p>
            <a:pPr>
              <a:spcBef>
                <a:spcPts val="600"/>
              </a:spcBef>
              <a:defRPr sz="1300"/>
            </a:pPr>
            <a:r>
              <a:t>💼 03-06月  人力招募與訓練（29 名員工）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2026 Q3-Q4: 工程施工階段</a:t>
            </a:r>
          </a:p>
          <a:p>
            <a:pPr>
              <a:spcBef>
                <a:spcPts val="600"/>
              </a:spcBef>
              <a:defRPr sz="1300"/>
            </a:pPr>
            <a:r>
              <a:t>🏗️ 07-12月  主體工程施工（約 1.8 億元）</a:t>
            </a:r>
          </a:p>
          <a:p>
            <a:pPr>
              <a:spcBef>
                <a:spcPts val="600"/>
              </a:spcBef>
              <a:defRPr sz="1300"/>
            </a:pPr>
            <a:r>
              <a:t>🎓 09-11月  員工教育訓練（照服員、教保員、STEAM 教師）</a:t>
            </a:r>
          </a:p>
          <a:p>
            <a:pPr>
              <a:spcBef>
                <a:spcPts val="600"/>
              </a:spcBef>
              <a:defRPr sz="1300"/>
            </a:pPr>
            <a:r>
              <a:t>🤝 10月  聯發科職涯導師招募（第一批 15 人）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2027 Q1: 試營運階段</a:t>
            </a:r>
          </a:p>
          <a:p>
            <a:pPr>
              <a:spcBef>
                <a:spcPts val="600"/>
              </a:spcBef>
              <a:defRPr sz="1300"/>
            </a:pPr>
            <a:r>
              <a:t>🎉 01月  軟體開幕（邀請蔡明介董事長剪綵）</a:t>
            </a:r>
          </a:p>
          <a:p>
            <a:pPr>
              <a:spcBef>
                <a:spcPts val="600"/>
              </a:spcBef>
              <a:defRPr sz="1300"/>
            </a:pPr>
            <a:r>
              <a:t>👥 01-03月  試營運（聯發科員工優先體驗）</a:t>
            </a:r>
          </a:p>
          <a:p>
            <a:pPr>
              <a:spcBef>
                <a:spcPts val="600"/>
              </a:spcBef>
              <a:defRPr sz="1300"/>
            </a:pPr>
            <a:r>
              <a:t>📊 03月  第一季成效評估（滿意度調查、SROI 驗證）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2027 Q2: 正式營運</a:t>
            </a:r>
          </a:p>
          <a:p>
            <a:pPr>
              <a:spcBef>
                <a:spcPts val="600"/>
              </a:spcBef>
              <a:defRPr sz="1300"/>
            </a:pPr>
            <a:r>
              <a:t>🚀 04月  正式對外營運（滿載率目標 90%）</a:t>
            </a:r>
          </a:p>
          <a:p>
            <a:pPr>
              <a:spcBef>
                <a:spcPts val="600"/>
              </a:spcBef>
              <a:defRPr sz="1300"/>
            </a:pPr>
            <a:r>
              <a:t>📰 05月  媒體發表會（商業周刊專題報導）</a:t>
            </a:r>
          </a:p>
          <a:p>
            <a:pPr>
              <a:spcBef>
                <a:spcPts val="600"/>
              </a:spcBef>
              <a:defRPr sz="1300"/>
            </a:pPr>
            <a:r>
              <a:t>🏆 06月  申請台灣企業永續獎（TCSA）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聯發科的四種參與方式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384048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600"/>
                </a:solidFill>
              </a:defRPr>
            </a:pPr>
            <a:r>
              <a:t>💰 財務投資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91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• 年度 400 萬 × 3 年</a:t>
            </a:r>
          </a:p>
          <a:p>
            <a:pPr>
              <a:spcBef>
                <a:spcPts val="400"/>
              </a:spcBef>
              <a:defRPr sz="1400"/>
            </a:pPr>
            <a:r>
              <a:t>• 60% 服務時數</a:t>
            </a:r>
          </a:p>
          <a:p>
            <a:pPr>
              <a:spcBef>
                <a:spcPts val="400"/>
              </a:spcBef>
              <a:defRPr sz="1400"/>
            </a:pPr>
            <a:r>
              <a:t>• 20% STEAM 教育</a:t>
            </a:r>
          </a:p>
          <a:p>
            <a:pPr>
              <a:spcBef>
                <a:spcPts val="400"/>
              </a:spcBef>
              <a:defRPr sz="1400"/>
            </a:pPr>
            <a:r>
              <a:t>• 20% 志工+設備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097280"/>
            <a:ext cx="384048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600"/>
                </a:solidFill>
              </a:defRPr>
            </a:pPr>
            <a:r>
              <a:t>👥 志工參與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828800"/>
            <a:ext cx="3291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• 招募 30 名員工</a:t>
            </a:r>
          </a:p>
          <a:p>
            <a:pPr>
              <a:spcBef>
                <a:spcPts val="400"/>
              </a:spcBef>
              <a:defRPr sz="1400"/>
            </a:pPr>
            <a:r>
              <a:t>• 職涯導師 20 名</a:t>
            </a:r>
          </a:p>
          <a:p>
            <a:pPr>
              <a:spcBef>
                <a:spcPts val="400"/>
              </a:spcBef>
              <a:defRPr sz="1400"/>
            </a:pPr>
            <a:r>
              <a:t>• STEAM 講師 10 名</a:t>
            </a:r>
          </a:p>
          <a:p>
            <a:pPr>
              <a:spcBef>
                <a:spcPts val="400"/>
              </a:spcBef>
              <a:defRPr sz="1400"/>
            </a:pPr>
            <a:r>
              <a:t>• 家庭諮詢師 5 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384048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600"/>
                </a:solidFill>
              </a:defRPr>
            </a:pPr>
            <a:r>
              <a:t>🔧 技術支援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3291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• 5G 網路建置</a:t>
            </a:r>
          </a:p>
          <a:p>
            <a:pPr>
              <a:spcBef>
                <a:spcPts val="400"/>
              </a:spcBef>
              <a:defRPr sz="1400"/>
            </a:pPr>
            <a:r>
              <a:t>• AI 課程設計</a:t>
            </a:r>
          </a:p>
          <a:p>
            <a:pPr>
              <a:spcBef>
                <a:spcPts val="400"/>
              </a:spcBef>
              <a:defRPr sz="1400"/>
            </a:pPr>
            <a:r>
              <a:t>• VR/AR 教材開發</a:t>
            </a:r>
          </a:p>
          <a:p>
            <a:pPr>
              <a:spcBef>
                <a:spcPts val="400"/>
              </a:spcBef>
              <a:defRPr sz="1400"/>
            </a:pPr>
            <a:r>
              <a:t>• 智慧化管理系統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657600"/>
            <a:ext cx="384048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840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600"/>
                </a:solidFill>
              </a:defRPr>
            </a:pPr>
            <a:r>
              <a:t>📢 品牌行銷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389120"/>
            <a:ext cx="3291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• ESG 報告專章</a:t>
            </a:r>
          </a:p>
          <a:p>
            <a:pPr>
              <a:spcBef>
                <a:spcPts val="400"/>
              </a:spcBef>
              <a:defRPr sz="1400"/>
            </a:pPr>
            <a:r>
              <a:t>• 文教基金會合作</a:t>
            </a:r>
          </a:p>
          <a:p>
            <a:pPr>
              <a:spcBef>
                <a:spcPts val="400"/>
              </a:spcBef>
              <a:defRPr sz="1400"/>
            </a:pPr>
            <a:r>
              <a:t>• 媒體聯合發表</a:t>
            </a:r>
          </a:p>
          <a:p>
            <a:pPr>
              <a:spcBef>
                <a:spcPts val="400"/>
              </a:spcBef>
              <a:defRPr sz="1400"/>
            </a:pPr>
            <a:r>
              <a:t>• 官網社群宣傳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風險評估與應變措施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600"/>
                </a:solidFill>
              </a:defRPr>
            </a:pPr>
            <a:r>
              <a:t>風險 1: 滿載率不足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/>
            </a:pPr>
            <a:r>
              <a:t>應變：加強宣傳、簡化流程、提供接駁、擴大對象</a:t>
            </a:r>
          </a:p>
          <a:p>
            <a:pPr>
              <a:spcBef>
                <a:spcPts val="300"/>
              </a:spcBef>
              <a:defRPr sz="1300"/>
            </a:pPr>
            <a:r>
              <a:t>保底：若 &lt; 80%，市府補足差額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39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600"/>
                </a:solidFill>
              </a:defRPr>
            </a:pPr>
            <a:r>
              <a:t>風險 2: 服務品質不佳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199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/>
            </a:pPr>
            <a:r>
              <a:t>應變：每月滿意度調查、專線客服、聯發科窗口</a:t>
            </a:r>
          </a:p>
          <a:p>
            <a:pPr>
              <a:spcBef>
                <a:spcPts val="300"/>
              </a:spcBef>
              <a:defRPr sz="1300"/>
            </a:pPr>
            <a:r>
              <a:t>SLA：滿意度 &lt; 85% 立即改善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599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600"/>
                </a:solidFill>
              </a:defRPr>
            </a:pPr>
            <a:r>
              <a:t>風險 3: 技術應用落差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59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/>
            </a:pPr>
            <a:r>
              <a:t>應變：聯發科技術團隊支援、定期檢討優化</a:t>
            </a:r>
          </a:p>
          <a:p>
            <a:pPr>
              <a:spcBef>
                <a:spcPts val="300"/>
              </a:spcBef>
              <a:defRPr sz="1300"/>
            </a:pPr>
            <a:r>
              <a:t>確保：5G/AI 設備穩定運作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59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600"/>
                </a:solidFill>
              </a:defRPr>
            </a:pPr>
            <a:r>
              <a:t>風險 4: 聲譽風險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/>
            </a:pPr>
            <a:r>
              <a:t>應變：危機處理小組、5,000萬責任險、嚴格安全標準</a:t>
            </a:r>
          </a:p>
          <a:p>
            <a:pPr>
              <a:spcBef>
                <a:spcPts val="300"/>
              </a:spcBef>
              <a:defRPr sz="1300"/>
            </a:pPr>
            <a:r>
              <a:t>預防：每季演練、透明化管理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7AE60"/>
                </a:solidFill>
              </a:defRPr>
            </a:pPr>
            <a:r>
              <a:t>✓ 風險可控  ✓ 應變措施完善  ✓ 投資穩健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國際標竿案例 - 科技業 ESG 最佳實踐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8"/>
                </a:solidFill>
              </a:defRPr>
            </a:pPr>
            <a:r>
              <a:t>🇺🇸 Google: 員工家庭支持計畫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模式：免費托育 + 教育津貼 + 家庭諮商</a:t>
            </a:r>
          </a:p>
          <a:p>
            <a:pPr>
              <a:spcBef>
                <a:spcPts val="300"/>
              </a:spcBef>
              <a:defRPr sz="1400"/>
            </a:pPr>
            <a:r>
              <a:t>借鏡：Google 投資員工家庭，聯發科可在新竹複製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8"/>
                </a:solidFill>
              </a:defRPr>
            </a:pPr>
            <a:r>
              <a:t>🇯🇵 Sony: 跨世代共生社區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79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模式：企業參與在地社福設施</a:t>
            </a:r>
          </a:p>
          <a:p>
            <a:pPr>
              <a:spcBef>
                <a:spcPts val="300"/>
              </a:spcBef>
              <a:defRPr sz="1400"/>
            </a:pPr>
            <a:r>
              <a:t>借鏡：Sony 深耕在地，聯發科也能成為新竹標竿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8"/>
                </a:solidFill>
              </a:defRPr>
            </a:pPr>
            <a:r>
              <a:t>🇹🇼 台達電: 綠建築 + 社會企業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模式：ESG 與核心能力結合</a:t>
            </a:r>
          </a:p>
          <a:p>
            <a:pPr>
              <a:spcBef>
                <a:spcPts val="300"/>
              </a:spcBef>
              <a:defRPr sz="1400"/>
            </a:pPr>
            <a:r>
              <a:t>創新：聯發科用 5G/AI 技術賦能社福，更具特色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 b="1"/>
            </a:pPr>
            <a:r>
              <a:t>🏆 聯發科參與的三大獨特價值</a:t>
            </a:r>
          </a:p>
          <a:p>
            <a:pPr>
              <a:spcBef>
                <a:spcPts val="600"/>
              </a:spcBef>
              <a:defRPr sz="1600" b="1"/>
            </a:pPr>
          </a:p>
          <a:p>
            <a:pPr>
              <a:spcBef>
                <a:spcPts val="600"/>
              </a:spcBef>
              <a:defRPr sz="1600" b="1"/>
            </a:pPr>
            <a:r>
              <a:t>1️⃣ 科技賦能：用 5G/AI 技術提升社福服務品質</a:t>
            </a:r>
          </a:p>
          <a:p>
            <a:pPr>
              <a:spcBef>
                <a:spcPts val="600"/>
              </a:spcBef>
              <a:defRPr sz="1600" b="1"/>
            </a:pPr>
            <a:r>
              <a:t>2️⃣ 人才培育：從幼兒到青少年，全齡 STEAM 教育</a:t>
            </a:r>
          </a:p>
          <a:p>
            <a:pPr>
              <a:spcBef>
                <a:spcPts val="600"/>
              </a:spcBef>
              <a:defRPr sz="1600" b="1"/>
            </a:pPr>
            <a:r>
              <a:t>3️⃣ 在地深耕：成為新竹最有溫度的科技企業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為什麼是「現在」？搶佔 ESG 先機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600"/>
                </a:solidFill>
              </a:defRPr>
            </a:pPr>
            <a:r>
              <a:t>⏰ 窗口 1: 標案設計階段（11/8-11/28）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• 標案已發包，10/30 開標</a:t>
            </a:r>
          </a:p>
          <a:p>
            <a:pPr>
              <a:spcBef>
                <a:spcPts val="300"/>
              </a:spcBef>
              <a:defRPr sz="1400"/>
            </a:pPr>
            <a:r>
              <a:t>• 這是納入「聯發科 AI 創客教室」的最後機會</a:t>
            </a:r>
          </a:p>
          <a:p>
            <a:pPr>
              <a:spcBef>
                <a:spcPts val="300"/>
              </a:spcBef>
              <a:defRPr sz="1400"/>
            </a:pPr>
            <a:r>
              <a:t>• 錯過這次，要再等 5 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600"/>
                </a:solidFill>
              </a:defRPr>
            </a:pPr>
            <a:r>
              <a:t>🏆 窗口 2: ESG 競爭加劇（2025-2026）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• 2026 年全球強制 ESG 揭露（ISSB 標準）</a:t>
            </a:r>
          </a:p>
          <a:p>
            <a:pPr>
              <a:spcBef>
                <a:spcPts val="300"/>
              </a:spcBef>
              <a:defRPr sz="1400"/>
            </a:pPr>
            <a:r>
              <a:t>• 競爭對手（高通、輝達）ESG 投資加碼</a:t>
            </a:r>
          </a:p>
          <a:p>
            <a:pPr>
              <a:spcBef>
                <a:spcPts val="300"/>
              </a:spcBef>
              <a:defRPr sz="1400"/>
            </a:pPr>
            <a:r>
              <a:t>• 搶在對手前建立標竿，品牌差異化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600"/>
                </a:solidFill>
              </a:defRPr>
            </a:pPr>
            <a:r>
              <a:t>👥 窗口 3: 人才搶奪戰白熱化（2025）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• AI 晶片產業人才缺口 10,000 人</a:t>
            </a:r>
          </a:p>
          <a:p>
            <a:pPr>
              <a:spcBef>
                <a:spcPts val="300"/>
              </a:spcBef>
              <a:defRPr sz="1400"/>
            </a:pPr>
            <a:r>
              <a:t>• 聯發科需要更強的雇主品牌吸引力</a:t>
            </a:r>
          </a:p>
          <a:p>
            <a:pPr>
              <a:spcBef>
                <a:spcPts val="300"/>
              </a:spcBef>
              <a:defRPr sz="1400"/>
            </a:pPr>
            <a:r>
              <a:t>• 「最佳雇主」需要具體行動，不只口號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669280"/>
            <a:ext cx="6400800" cy="731520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🚀 先行者優勢：搶佔 ESG 制高點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現在不投資，將落後競爭對手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我們需要聯發科的決定 - 下一步行動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請聯發科在 2 週內（11/15 前）決定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✓ 是否參與「竹科家庭照護時數銀行」專案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✓ 投資額度：400 萬/年 × 3 年 = 1,200 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7772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500"/>
            </a:pPr>
            <a:r>
              <a:t>🤝 如果聯發科決定參與，接下來的流程：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600"/>
              </a:spcBef>
              <a:defRPr sz="1500"/>
            </a:pPr>
            <a:r>
              <a:t>第 1 步（11/15）：簽署合作意向書（LOI）</a:t>
            </a:r>
          </a:p>
          <a:p>
            <a:pPr>
              <a:spcBef>
                <a:spcPts val="600"/>
              </a:spcBef>
              <a:defRPr sz="1500"/>
            </a:pPr>
            <a:r>
              <a:t>第 2 步（11/20）：提交設計需求清單（AI 創客教室規劃）</a:t>
            </a:r>
          </a:p>
          <a:p>
            <a:pPr>
              <a:spcBef>
                <a:spcPts val="600"/>
              </a:spcBef>
              <a:defRPr sz="1500"/>
            </a:pPr>
            <a:r>
              <a:t>第 3 步（11/30）：簽署正式 MOU + 第一年撥款 400 萬</a:t>
            </a:r>
          </a:p>
          <a:p>
            <a:pPr>
              <a:spcBef>
                <a:spcPts val="600"/>
              </a:spcBef>
              <a:defRPr sz="1500"/>
            </a:pPr>
            <a:r>
              <a:t>第 4 步（12 月起）：設計階段參與（每月 1 次會議）</a:t>
            </a:r>
          </a:p>
          <a:p>
            <a:pPr>
              <a:spcBef>
                <a:spcPts val="600"/>
              </a:spcBef>
              <a:defRPr sz="1500"/>
            </a:pPr>
            <a:r>
              <a:t>第 5 步（2026 年）：持續追蹤與監督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400"/>
            </a:pPr>
            <a:r>
              <a:t>📞 聯絡窗口</a:t>
            </a:r>
          </a:p>
          <a:p>
            <a:pPr algn="ctr">
              <a:spcBef>
                <a:spcPts val="400"/>
              </a:spcBef>
              <a:defRPr sz="1400"/>
            </a:pPr>
          </a:p>
          <a:p>
            <a:pPr algn="ctr">
              <a:spcBef>
                <a:spcPts val="400"/>
              </a:spcBef>
              <a:defRPr sz="1400"/>
            </a:pPr>
            <a:r>
              <a:t>新竹市政府社會處 | 專案顧問團隊：Easterlin Hsinchu Team</a:t>
            </a:r>
          </a:p>
          <a:p>
            <a:pPr algn="ctr">
              <a:spcBef>
                <a:spcPts val="400"/>
              </a:spcBef>
              <a:defRPr sz="1400"/>
            </a:pPr>
            <a:r>
              <a:t>⏰ 回覆期限：2025 年 11 月 15 日（五）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一起用科技的力量，創造有溫度的社會價值</a:t>
            </a:r>
          </a:p>
          <a:p>
            <a:pPr algn="ctr">
              <a:defRPr sz="2000" b="1">
                <a:solidFill>
                  <a:srgbClr val="27AE60"/>
                </a:solidFill>
              </a:defRPr>
            </a:pPr>
            <a:r>
              <a:t>謝謝各位！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